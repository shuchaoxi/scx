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Today I present SCX -- a framework for state-conditioned data valuation. The core idea: data value is not a fixed property, but depends on state context. I will cover four things: the problem, the core idea, what we have built, and next steps.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is expensive in scientific computing. DFT calculations cost dozens of core-hours. But we often do not know which data to invest in. Traditional methods give each sample a fixed score, ignoring context. This is the gap SCX fills.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Core idea. Traditional methods assign fixed scores. SCX argues data value depends on state. The formula V(s) has five multiplicative factors. If any one is zero, value is zero. For example, if current error is already low, more data is redundant regardless of sample quality.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Four-quadrant explanation with real AlN data. Redundant: phonon 120 frames with low fmax, model already learned -- compress 50-80%. Valuable: EOS extreme strain with higher error but good consistency -- real physics not yet learned. Noisy: thermal 1800K with 49% frames above fmax=5 -- these are bad VASP configurations. Expert-dependent: MLMD region needs routing to the right specialist.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SCX classifies data into four types with clear conditions and actions. Valuable: model has not learned this yet, data quality is reliable -- invest more. Redundant: model already performs well -- save money. Noisy: data itself is problematic -- do not use. Expert-dependent: route to the right specialist, do not average.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MLIP first? Three reasons. ACE descriptor is a natural state encoder -- physics gives us the embedding. DFT provides reliable labels -- we have ground truth. MLIP is naturally multi-expert -- different potentials on same data. These three conditions make MLIP the ideal first validation domain.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Progress on two parallel tracks. Left: Model B architecture and gauge fixing via post-hoc projection. Right: SCX two-layer descriptor improving noise F1 2.3x, and data poisoning defense -- SCX found all high-noise frames without knowing fmax thresholds. Pearson r = 0.966 between training fmax and test error.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structure is identical across MLIP and engineering simulation. State spaces, expert types, noise patterns, redundancy patterns -- all have direct analogs. The mapping is clean and suggests SCX generalizes naturally.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SCX workflow: five stages forming a closed loop. Key innovation: two-layer descriptor. Layer 1 uses human domain knowledge. Layer 2 uses error-driven feature selection. States should be defined by where models FAIL, not by human intuition.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Potential application directions. Only MLIP is verified. Others share the same problem structure -- state-conditioned data/model trustworthiness -- but have not been tested. The core question is universal: in the current state, is this data trustworthy? Is this model reliable?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pillars: Theory (redefines data value as state-conditioned, 6 propositions), Validation (quantitative evidence from AlN and MedMNIST), Generality (not tied to any ML paradigm), Practicality (directly answers cost questions).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papers. Paper 1 SCX-MLIP has complete experimental data and can start writing now. Paper 2 SCX-Theory needs additional FEM case study and synthetic benchmark. Paper 1 targets Nature Comp Sci/npj CM, Paper 2 targets TMLR/AISTATS.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slide. One sentence summary: SCX does not replace models or experts. It judges, in the current state, which data to trust, which expert to trust, and which action is worth the cost. The core proposition: The value of data is state-conditioned.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18320" cy="1097280"/>
          </a:xfrm>
          <a:prstGeom prst="rect">
            <a:avLst/>
          </a:prstGeom>
          <a:noFill/>
        </p:spPr>
        <p:txBody>
          <a:bodyPr wrap="square">
            <a:spAutoFit/>
          </a:bodyPr>
          <a:lstStyle/>
          <a:p>
            <a:pPr algn="l">
              <a:defRPr sz="4000" b="1">
                <a:solidFill>
                  <a:srgbClr val="1A1A2E"/>
                </a:solidFill>
              </a:defRPr>
            </a:pPr>
            <a:r>
              <a:t>SCX: State-Conditioned Data Value Framework</a:t>
            </a:r>
          </a:p>
        </p:txBody>
      </p:sp>
      <p:sp>
        <p:nvSpPr>
          <p:cNvPr id="4" name="TextBox 3"/>
          <p:cNvSpPr txBox="1"/>
          <p:nvPr/>
        </p:nvSpPr>
        <p:spPr>
          <a:xfrm>
            <a:off x="1371600" y="2743200"/>
            <a:ext cx="9418320" cy="731520"/>
          </a:xfrm>
          <a:prstGeom prst="rect">
            <a:avLst/>
          </a:prstGeom>
          <a:noFill/>
        </p:spPr>
        <p:txBody>
          <a:bodyPr wrap="square">
            <a:spAutoFit/>
          </a:bodyPr>
          <a:lstStyle/>
          <a:p>
            <a:pPr algn="l">
              <a:defRPr sz="2400" b="0">
                <a:solidFill>
                  <a:srgbClr val="1A56DB"/>
                </a:solidFill>
              </a:defRPr>
            </a:pPr>
            <a:r>
              <a:t>The value of data is state-conditioned</a:t>
            </a:r>
          </a:p>
        </p:txBody>
      </p:sp>
      <p:sp>
        <p:nvSpPr>
          <p:cNvPr id="5" name="TextBox 4"/>
          <p:cNvSpPr txBox="1"/>
          <p:nvPr/>
        </p:nvSpPr>
        <p:spPr>
          <a:xfrm>
            <a:off x="1371600" y="3474720"/>
            <a:ext cx="9418320" cy="457200"/>
          </a:xfrm>
          <a:prstGeom prst="rect">
            <a:avLst/>
          </a:prstGeom>
          <a:noFill/>
        </p:spPr>
        <p:txBody>
          <a:bodyPr wrap="square">
            <a:spAutoFit/>
          </a:bodyPr>
          <a:lstStyle/>
          <a:p>
            <a:pPr algn="l">
              <a:defRPr sz="1800" b="0">
                <a:solidFill>
                  <a:srgbClr val="6B7280"/>
                </a:solidFill>
              </a:defRPr>
            </a:pPr>
            <a:r>
              <a:t>From ML Potentials to Scientific &amp; Engineering Simulation</a:t>
            </a:r>
          </a:p>
        </p:txBody>
      </p:sp>
      <p:sp>
        <p:nvSpPr>
          <p:cNvPr id="6" name="TextBox 5"/>
          <p:cNvSpPr txBox="1"/>
          <p:nvPr/>
        </p:nvSpPr>
        <p:spPr>
          <a:xfrm>
            <a:off x="1371600" y="5029200"/>
            <a:ext cx="4572000" cy="914400"/>
          </a:xfrm>
          <a:prstGeom prst="rect">
            <a:avLst/>
          </a:prstGeom>
          <a:noFill/>
        </p:spPr>
        <p:txBody>
          <a:bodyPr wrap="square">
            <a:spAutoFit/>
          </a:bodyPr>
          <a:lstStyle/>
          <a:p>
            <a:pPr algn="l">
              <a:defRPr sz="1600" b="0">
                <a:solidFill>
                  <a:srgbClr val="6B7280"/>
                </a:solidFill>
              </a:defRPr>
            </a:pPr>
            <a:r>
              <a:t>Speaker: Shaojie Xu</a:t>
            </a:r>
            <a:br/>
            <a:r>
              <a:t>Huazhong Univ. of Sci. &amp; Tech.</a:t>
            </a:r>
            <a:br/>
            <a:r>
              <a:t>June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640080"/>
          </a:xfrm>
          <a:prstGeom prst="rect">
            <a:avLst/>
          </a:prstGeom>
          <a:noFill/>
        </p:spPr>
        <p:txBody>
          <a:bodyPr wrap="square">
            <a:spAutoFit/>
          </a:bodyPr>
          <a:lstStyle/>
          <a:p>
            <a:pPr algn="l">
              <a:defRPr sz="2600" b="1">
                <a:solidFill>
                  <a:srgbClr val="1A1A2E"/>
                </a:solidFill>
              </a:defRPr>
            </a:pPr>
            <a:r>
              <a:t>Problem: Data is expensive, but we often do not know which data is worth using</a:t>
            </a:r>
          </a:p>
        </p:txBody>
      </p:sp>
      <p:sp>
        <p:nvSpPr>
          <p:cNvPr id="4" name="Rounded Rectangle 3"/>
          <p:cNvSpPr/>
          <p:nvPr/>
        </p:nvSpPr>
        <p:spPr>
          <a:xfrm>
            <a:off x="457200" y="1371600"/>
            <a:ext cx="2651760" cy="347472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63040"/>
            <a:ext cx="2286000" cy="640080"/>
          </a:xfrm>
          <a:prstGeom prst="rect">
            <a:avLst/>
          </a:prstGeom>
          <a:noFill/>
        </p:spPr>
        <p:txBody>
          <a:bodyPr wrap="square">
            <a:spAutoFit/>
          </a:bodyPr>
          <a:lstStyle/>
          <a:p>
            <a:pPr algn="l">
              <a:defRPr sz="1500" b="1">
                <a:solidFill>
                  <a:srgbClr val="1A1A2E"/>
                </a:solidFill>
              </a:defRPr>
            </a:pPr>
            <a:r>
              <a:t>Data Acquisition</a:t>
            </a:r>
            <a:br/>
            <a:r>
              <a:t>is Costly</a:t>
            </a:r>
          </a:p>
        </p:txBody>
      </p:sp>
      <p:sp>
        <p:nvSpPr>
          <p:cNvPr id="6" name="TextBox 5"/>
          <p:cNvSpPr txBox="1"/>
          <p:nvPr/>
        </p:nvSpPr>
        <p:spPr>
          <a:xfrm>
            <a:off x="640080" y="2194560"/>
            <a:ext cx="2286000" cy="2560320"/>
          </a:xfrm>
          <a:prstGeom prst="rect">
            <a:avLst/>
          </a:prstGeom>
          <a:noFill/>
        </p:spPr>
        <p:txBody>
          <a:bodyPr wrap="square">
            <a:spAutoFit/>
          </a:bodyPr>
          <a:lstStyle/>
          <a:p>
            <a:pPr>
              <a:spcAft>
                <a:spcPts val="400"/>
              </a:spcAft>
              <a:defRPr sz="1300">
                <a:solidFill>
                  <a:srgbClr val="6B7280"/>
                </a:solidFill>
              </a:defRPr>
            </a:pPr>
            <a:r>
              <a:t>DFT: tens of core-hours per structure</a:t>
            </a:r>
          </a:p>
          <a:p>
            <a:pPr>
              <a:spcAft>
                <a:spcPts val="400"/>
              </a:spcAft>
              <a:defRPr sz="1300">
                <a:solidFill>
                  <a:srgbClr val="6B7280"/>
                </a:solidFill>
              </a:defRPr>
            </a:pPr>
            <a:r>
              <a:t>FEM: hours per simulation run</a:t>
            </a:r>
          </a:p>
          <a:p>
            <a:pPr>
              <a:spcAft>
                <a:spcPts val="400"/>
              </a:spcAft>
              <a:defRPr sz="1300">
                <a:solidFill>
                  <a:srgbClr val="6B7280"/>
                </a:solidFill>
              </a:defRPr>
            </a:pPr>
            <a:r>
              <a:t>Medical imaging: expert annotation needed</a:t>
            </a:r>
          </a:p>
        </p:txBody>
      </p:sp>
      <p:sp>
        <p:nvSpPr>
          <p:cNvPr id="7" name="Rounded Rectangle 6"/>
          <p:cNvSpPr/>
          <p:nvPr/>
        </p:nvSpPr>
        <p:spPr>
          <a:xfrm>
            <a:off x="3291840" y="1371600"/>
            <a:ext cx="2651760" cy="347472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0" y="1463040"/>
            <a:ext cx="2286000" cy="640080"/>
          </a:xfrm>
          <a:prstGeom prst="rect">
            <a:avLst/>
          </a:prstGeom>
          <a:noFill/>
        </p:spPr>
        <p:txBody>
          <a:bodyPr wrap="square">
            <a:spAutoFit/>
          </a:bodyPr>
          <a:lstStyle/>
          <a:p>
            <a:pPr algn="l">
              <a:defRPr sz="1500" b="1">
                <a:solidFill>
                  <a:srgbClr val="1A1A2E"/>
                </a:solidFill>
              </a:defRPr>
            </a:pPr>
            <a:r>
              <a:t>Data Value</a:t>
            </a:r>
            <a:br/>
            <a:r>
              <a:t>is Unclear</a:t>
            </a:r>
          </a:p>
        </p:txBody>
      </p:sp>
      <p:sp>
        <p:nvSpPr>
          <p:cNvPr id="9" name="TextBox 8"/>
          <p:cNvSpPr txBox="1"/>
          <p:nvPr/>
        </p:nvSpPr>
        <p:spPr>
          <a:xfrm>
            <a:off x="3474720" y="2194560"/>
            <a:ext cx="2286000" cy="2560320"/>
          </a:xfrm>
          <a:prstGeom prst="rect">
            <a:avLst/>
          </a:prstGeom>
          <a:noFill/>
        </p:spPr>
        <p:txBody>
          <a:bodyPr wrap="square">
            <a:spAutoFit/>
          </a:bodyPr>
          <a:lstStyle/>
          <a:p>
            <a:pPr>
              <a:spcAft>
                <a:spcPts val="400"/>
              </a:spcAft>
              <a:defRPr sz="1300">
                <a:solidFill>
                  <a:srgbClr val="6B7280"/>
                </a:solidFill>
              </a:defRPr>
            </a:pPr>
            <a:r>
              <a:t>Which samples are worth computing?</a:t>
            </a:r>
          </a:p>
          <a:p>
            <a:pPr>
              <a:spcAft>
                <a:spcPts val="400"/>
              </a:spcAft>
              <a:defRPr sz="1300">
                <a:solidFill>
                  <a:srgbClr val="6B7280"/>
                </a:solidFill>
              </a:defRPr>
            </a:pPr>
            <a:r>
              <a:t>Which are redundant / can be skipped?</a:t>
            </a:r>
          </a:p>
          <a:p>
            <a:pPr>
              <a:spcAft>
                <a:spcPts val="400"/>
              </a:spcAft>
              <a:defRPr sz="1300">
                <a:solidFill>
                  <a:srgbClr val="6B7280"/>
                </a:solidFill>
              </a:defRPr>
            </a:pPr>
            <a:r>
              <a:t>Which may be wrong?</a:t>
            </a:r>
          </a:p>
        </p:txBody>
      </p:sp>
      <p:sp>
        <p:nvSpPr>
          <p:cNvPr id="10" name="Rounded Rectangle 9"/>
          <p:cNvSpPr/>
          <p:nvPr/>
        </p:nvSpPr>
        <p:spPr>
          <a:xfrm>
            <a:off x="6126480" y="1371600"/>
            <a:ext cx="2651760" cy="347472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463040"/>
            <a:ext cx="2286000" cy="640080"/>
          </a:xfrm>
          <a:prstGeom prst="rect">
            <a:avLst/>
          </a:prstGeom>
          <a:noFill/>
        </p:spPr>
        <p:txBody>
          <a:bodyPr wrap="square">
            <a:spAutoFit/>
          </a:bodyPr>
          <a:lstStyle/>
          <a:p>
            <a:pPr algn="l">
              <a:defRPr sz="1500" b="1">
                <a:solidFill>
                  <a:srgbClr val="1A1A2E"/>
                </a:solidFill>
              </a:defRPr>
            </a:pPr>
            <a:r>
              <a:t>Multi-Expert Comparison</a:t>
            </a:r>
            <a:br/>
            <a:r>
              <a:t>is Hard</a:t>
            </a:r>
          </a:p>
        </p:txBody>
      </p:sp>
      <p:sp>
        <p:nvSpPr>
          <p:cNvPr id="12" name="TextBox 11"/>
          <p:cNvSpPr txBox="1"/>
          <p:nvPr/>
        </p:nvSpPr>
        <p:spPr>
          <a:xfrm>
            <a:off x="6309360" y="2194560"/>
            <a:ext cx="2286000" cy="2560320"/>
          </a:xfrm>
          <a:prstGeom prst="rect">
            <a:avLst/>
          </a:prstGeom>
          <a:noFill/>
        </p:spPr>
        <p:txBody>
          <a:bodyPr wrap="square">
            <a:spAutoFit/>
          </a:bodyPr>
          <a:lstStyle/>
          <a:p>
            <a:pPr>
              <a:spcAft>
                <a:spcPts val="400"/>
              </a:spcAft>
              <a:defRPr sz="1300">
                <a:solidFill>
                  <a:srgbClr val="6B7280"/>
                </a:solidFill>
              </a:defRPr>
            </a:pPr>
            <a:r>
              <a:t>No single best model exists globally</a:t>
            </a:r>
          </a:p>
          <a:p>
            <a:pPr>
              <a:spcAft>
                <a:spcPts val="400"/>
              </a:spcAft>
              <a:defRPr sz="1300">
                <a:solidFill>
                  <a:srgbClr val="6B7280"/>
                </a:solidFill>
              </a:defRPr>
            </a:pPr>
            <a:r>
              <a:t>Expert reliability varies by region</a:t>
            </a:r>
          </a:p>
          <a:p>
            <a:pPr>
              <a:spcAft>
                <a:spcPts val="400"/>
              </a:spcAft>
              <a:defRPr sz="1300">
                <a:solidFill>
                  <a:srgbClr val="6B7280"/>
                </a:solidFill>
              </a:defRPr>
            </a:pPr>
            <a:r>
              <a:t>How to route samples to the right expert?</a:t>
            </a:r>
          </a:p>
        </p:txBody>
      </p:sp>
      <p:sp>
        <p:nvSpPr>
          <p:cNvPr id="13" name="Rounded Rectangle 12"/>
          <p:cNvSpPr/>
          <p:nvPr/>
        </p:nvSpPr>
        <p:spPr>
          <a:xfrm>
            <a:off x="8961120" y="1371600"/>
            <a:ext cx="2651760" cy="347472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0" y="1463040"/>
            <a:ext cx="2286000" cy="640080"/>
          </a:xfrm>
          <a:prstGeom prst="rect">
            <a:avLst/>
          </a:prstGeom>
          <a:noFill/>
        </p:spPr>
        <p:txBody>
          <a:bodyPr wrap="square">
            <a:spAutoFit/>
          </a:bodyPr>
          <a:lstStyle/>
          <a:p>
            <a:pPr algn="l">
              <a:defRPr sz="1500" b="1">
                <a:solidFill>
                  <a:srgbClr val="1A1A2E"/>
                </a:solidFill>
              </a:defRPr>
            </a:pPr>
            <a:r>
              <a:t>Traditional Methods</a:t>
            </a:r>
            <a:br/>
            <a:r>
              <a:t>Fall Short</a:t>
            </a:r>
          </a:p>
        </p:txBody>
      </p:sp>
      <p:sp>
        <p:nvSpPr>
          <p:cNvPr id="15" name="TextBox 14"/>
          <p:cNvSpPr txBox="1"/>
          <p:nvPr/>
        </p:nvSpPr>
        <p:spPr>
          <a:xfrm>
            <a:off x="9144000" y="2194560"/>
            <a:ext cx="2286000" cy="2560320"/>
          </a:xfrm>
          <a:prstGeom prst="rect">
            <a:avLst/>
          </a:prstGeom>
          <a:noFill/>
        </p:spPr>
        <p:txBody>
          <a:bodyPr wrap="square">
            <a:spAutoFit/>
          </a:bodyPr>
          <a:lstStyle/>
          <a:p>
            <a:pPr>
              <a:spcAft>
                <a:spcPts val="400"/>
              </a:spcAft>
              <a:defRPr sz="1300">
                <a:solidFill>
                  <a:srgbClr val="6B7280"/>
                </a:solidFill>
              </a:defRPr>
            </a:pPr>
            <a:r>
              <a:t>LOO/Shapley: one fixed score per sample</a:t>
            </a:r>
          </a:p>
          <a:p>
            <a:pPr>
              <a:spcAft>
                <a:spcPts val="400"/>
              </a:spcAft>
              <a:defRPr sz="1300">
                <a:solidFill>
                  <a:srgbClr val="6B7280"/>
                </a:solidFill>
              </a:defRPr>
            </a:pPr>
            <a:r>
              <a:t>No state context considered</a:t>
            </a:r>
          </a:p>
          <a:p>
            <a:pPr>
              <a:spcAft>
                <a:spcPts val="400"/>
              </a:spcAft>
              <a:defRPr sz="1300">
                <a:solidFill>
                  <a:srgbClr val="6B7280"/>
                </a:solidFill>
              </a:defRPr>
            </a:pPr>
            <a:r>
              <a:t>Cannot separate noise from hard samples</a:t>
            </a:r>
          </a:p>
        </p:txBody>
      </p:sp>
      <p:sp>
        <p:nvSpPr>
          <p:cNvPr id="16" name="TextBox 15"/>
          <p:cNvSpPr txBox="1"/>
          <p:nvPr/>
        </p:nvSpPr>
        <p:spPr>
          <a:xfrm>
            <a:off x="731520" y="5212080"/>
            <a:ext cx="10698480" cy="914400"/>
          </a:xfrm>
          <a:prstGeom prst="rect">
            <a:avLst/>
          </a:prstGeom>
          <a:noFill/>
        </p:spPr>
        <p:txBody>
          <a:bodyPr wrap="square">
            <a:spAutoFit/>
          </a:bodyPr>
          <a:lstStyle/>
          <a:p>
            <a:pPr algn="l">
              <a:defRPr sz="1700" b="0">
                <a:solidFill>
                  <a:srgbClr val="1A1A2E"/>
                </a:solidFill>
              </a:defRPr>
            </a:pPr>
            <a:r>
              <a:t>Core tension: We need a framework that judges -- at the state level -- whether this data is trustworthy, this expert is reliable, and this action is worth the cost.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640080"/>
          </a:xfrm>
          <a:prstGeom prst="rect">
            <a:avLst/>
          </a:prstGeom>
          <a:noFill/>
        </p:spPr>
        <p:txBody>
          <a:bodyPr wrap="square">
            <a:spAutoFit/>
          </a:bodyPr>
          <a:lstStyle/>
          <a:p>
            <a:pPr algn="l">
              <a:defRPr sz="2800" b="1">
                <a:solidFill>
                  <a:srgbClr val="1A1A2E"/>
                </a:solidFill>
              </a:defRPr>
            </a:pPr>
            <a:r>
              <a:t>Core Idea: Data Value is State-Conditioned</a:t>
            </a:r>
          </a:p>
        </p:txBody>
      </p:sp>
      <p:sp>
        <p:nvSpPr>
          <p:cNvPr id="4" name="Rounded Rectangle 3"/>
          <p:cNvSpPr/>
          <p:nvPr/>
        </p:nvSpPr>
        <p:spPr>
          <a:xfrm>
            <a:off x="457200" y="1371600"/>
            <a:ext cx="5303520" cy="182880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4754880" cy="365760"/>
          </a:xfrm>
          <a:prstGeom prst="rect">
            <a:avLst/>
          </a:prstGeom>
          <a:noFill/>
        </p:spPr>
        <p:txBody>
          <a:bodyPr wrap="square">
            <a:spAutoFit/>
          </a:bodyPr>
          <a:lstStyle/>
          <a:p>
            <a:pPr algn="l">
              <a:defRPr sz="2000" b="1">
                <a:solidFill>
                  <a:srgbClr val="DC2626"/>
                </a:solidFill>
              </a:defRPr>
            </a:pPr>
            <a:r>
              <a:t>Traditional: Global Scoring</a:t>
            </a:r>
          </a:p>
        </p:txBody>
      </p:sp>
      <p:sp>
        <p:nvSpPr>
          <p:cNvPr id="6" name="TextBox 5"/>
          <p:cNvSpPr txBox="1"/>
          <p:nvPr/>
        </p:nvSpPr>
        <p:spPr>
          <a:xfrm>
            <a:off x="731520" y="1920240"/>
            <a:ext cx="4754880" cy="1097280"/>
          </a:xfrm>
          <a:prstGeom prst="rect">
            <a:avLst/>
          </a:prstGeom>
          <a:noFill/>
        </p:spPr>
        <p:txBody>
          <a:bodyPr wrap="square">
            <a:spAutoFit/>
          </a:bodyPr>
          <a:lstStyle/>
          <a:p>
            <a:pPr>
              <a:spcAft>
                <a:spcPts val="400"/>
              </a:spcAft>
              <a:defRPr sz="1400">
                <a:solidFill>
                  <a:srgbClr val="6B7280"/>
                </a:solidFill>
              </a:defRPr>
            </a:pPr>
            <a:r>
              <a:t>LOO / Data Shapley / Influence Function</a:t>
            </a:r>
          </a:p>
          <a:p>
            <a:pPr>
              <a:spcAft>
                <a:spcPts val="400"/>
              </a:spcAft>
              <a:defRPr sz="1400">
                <a:solidFill>
                  <a:srgbClr val="6B7280"/>
                </a:solidFill>
              </a:defRPr>
            </a:pPr>
            <a:r>
              <a:t>Each sample -&gt; one fixed score</a:t>
            </a:r>
          </a:p>
          <a:p>
            <a:pPr>
              <a:spcAft>
                <a:spcPts val="400"/>
              </a:spcAft>
              <a:defRPr sz="1400">
                <a:solidFill>
                  <a:srgbClr val="6B7280"/>
                </a:solidFill>
              </a:defRPr>
            </a:pPr>
            <a:r>
              <a:t>Ignores: who uses it, what exists, what is missing</a:t>
            </a:r>
          </a:p>
          <a:p>
            <a:pPr>
              <a:spcAft>
                <a:spcPts val="400"/>
              </a:spcAft>
              <a:defRPr sz="1400">
                <a:solidFill>
                  <a:srgbClr val="6B7280"/>
                </a:solidFill>
              </a:defRPr>
            </a:pPr>
            <a:r>
              <a:t>Result: noise vs hard sample indistinguishable</a:t>
            </a:r>
          </a:p>
        </p:txBody>
      </p:sp>
      <p:sp>
        <p:nvSpPr>
          <p:cNvPr id="7" name="Rounded Rectangle 6"/>
          <p:cNvSpPr/>
          <p:nvPr/>
        </p:nvSpPr>
        <p:spPr>
          <a:xfrm>
            <a:off x="6217920" y="1371600"/>
            <a:ext cx="5303520" cy="1828800"/>
          </a:xfrm>
          <a:prstGeom prst="roundRect">
            <a:avLst/>
          </a:prstGeom>
          <a:solidFill>
            <a:srgbClr val="DBE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463040"/>
            <a:ext cx="4754880" cy="365760"/>
          </a:xfrm>
          <a:prstGeom prst="rect">
            <a:avLst/>
          </a:prstGeom>
          <a:noFill/>
        </p:spPr>
        <p:txBody>
          <a:bodyPr wrap="square">
            <a:spAutoFit/>
          </a:bodyPr>
          <a:lstStyle/>
          <a:p>
            <a:pPr algn="l">
              <a:defRPr sz="2000" b="1">
                <a:solidFill>
                  <a:srgbClr val="1A56DB"/>
                </a:solidFill>
              </a:defRPr>
            </a:pPr>
            <a:r>
              <a:t>SCX: State-Conditioned Scoring</a:t>
            </a:r>
          </a:p>
        </p:txBody>
      </p:sp>
      <p:sp>
        <p:nvSpPr>
          <p:cNvPr id="9" name="TextBox 8"/>
          <p:cNvSpPr txBox="1"/>
          <p:nvPr/>
        </p:nvSpPr>
        <p:spPr>
          <a:xfrm>
            <a:off x="6492240" y="1920240"/>
            <a:ext cx="4754880" cy="1097280"/>
          </a:xfrm>
          <a:prstGeom prst="rect">
            <a:avLst/>
          </a:prstGeom>
          <a:noFill/>
        </p:spPr>
        <p:txBody>
          <a:bodyPr wrap="square">
            <a:spAutoFit/>
          </a:bodyPr>
          <a:lstStyle/>
          <a:p>
            <a:pPr>
              <a:spcAft>
                <a:spcPts val="400"/>
              </a:spcAft>
              <a:defRPr sz="1400">
                <a:solidFill>
                  <a:srgbClr val="1A1A2E"/>
                </a:solidFill>
              </a:defRPr>
            </a:pPr>
            <a:r>
              <a:t>V(x) = V(x | state, coverage, expert, cost, feedback)</a:t>
            </a:r>
          </a:p>
          <a:p>
            <a:pPr>
              <a:spcAft>
                <a:spcPts val="400"/>
              </a:spcAft>
              <a:defRPr sz="1400">
                <a:solidFill>
                  <a:srgbClr val="1A1A2E"/>
                </a:solidFill>
              </a:defRPr>
            </a:pPr>
            <a:r>
              <a:t>Same sample -&gt; different value under different conditions</a:t>
            </a:r>
          </a:p>
          <a:p>
            <a:pPr>
              <a:spcAft>
                <a:spcPts val="400"/>
              </a:spcAft>
              <a:defRPr sz="1400">
                <a:solidFill>
                  <a:srgbClr val="1A1A2E"/>
                </a:solidFill>
              </a:defRPr>
            </a:pPr>
            <a:r>
              <a:t>Data value determined by five factors jointly</a:t>
            </a:r>
          </a:p>
          <a:p>
            <a:pPr>
              <a:spcAft>
                <a:spcPts val="400"/>
              </a:spcAft>
              <a:defRPr sz="1400">
                <a:solidFill>
                  <a:srgbClr val="1A1A2E"/>
                </a:solidFill>
              </a:defRPr>
            </a:pPr>
            <a:r>
              <a:t>Can separate: redundant / noisy / valuable / expert-dep.</a:t>
            </a:r>
          </a:p>
        </p:txBody>
      </p:sp>
      <p:sp>
        <p:nvSpPr>
          <p:cNvPr id="10" name="Rounded Rectangle 9"/>
          <p:cNvSpPr/>
          <p:nvPr/>
        </p:nvSpPr>
        <p:spPr>
          <a:xfrm>
            <a:off x="457200" y="3566160"/>
            <a:ext cx="11247120" cy="1097280"/>
          </a:xfrm>
          <a:prstGeom prst="roundRect">
            <a:avLst/>
          </a:prstGeom>
          <a:solidFill>
            <a:srgbClr val="FFFFFF"/>
          </a:solidFill>
          <a:ln w="12700">
            <a:solidFill>
              <a:srgbClr val="1A56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657600"/>
            <a:ext cx="10698480" cy="365760"/>
          </a:xfrm>
          <a:prstGeom prst="rect">
            <a:avLst/>
          </a:prstGeom>
          <a:noFill/>
        </p:spPr>
        <p:txBody>
          <a:bodyPr wrap="square">
            <a:spAutoFit/>
          </a:bodyPr>
          <a:lstStyle/>
          <a:p>
            <a:pPr algn="l">
              <a:defRPr sz="1600" b="1">
                <a:solidFill>
                  <a:srgbClr val="1A56DB"/>
                </a:solidFill>
              </a:defRPr>
            </a:pPr>
            <a:r>
              <a:t>Core Formula</a:t>
            </a:r>
          </a:p>
        </p:txBody>
      </p:sp>
      <p:sp>
        <p:nvSpPr>
          <p:cNvPr id="12" name="TextBox 11"/>
          <p:cNvSpPr txBox="1"/>
          <p:nvPr/>
        </p:nvSpPr>
        <p:spPr>
          <a:xfrm>
            <a:off x="731520" y="4023360"/>
            <a:ext cx="10698480" cy="457200"/>
          </a:xfrm>
          <a:prstGeom prst="rect">
            <a:avLst/>
          </a:prstGeom>
          <a:noFill/>
        </p:spPr>
        <p:txBody>
          <a:bodyPr wrap="square">
            <a:spAutoFit/>
          </a:bodyPr>
          <a:lstStyle/>
          <a:p>
            <a:pPr algn="l">
              <a:defRPr sz="2200" b="1">
                <a:solidFill>
                  <a:srgbClr val="1A1A2E"/>
                </a:solidFill>
              </a:defRPr>
            </a:pPr>
            <a:r>
              <a:t>V(s) = r_bar(s) * rho(s) * L(s) * [1 - D(s)] * max_m SCX_m(s)</a:t>
            </a:r>
          </a:p>
        </p:txBody>
      </p:sp>
      <p:sp>
        <p:nvSpPr>
          <p:cNvPr id="13" name="TextBox 12"/>
          <p:cNvSpPr txBox="1"/>
          <p:nvPr/>
        </p:nvSpPr>
        <p:spPr>
          <a:xfrm>
            <a:off x="731520" y="4389120"/>
            <a:ext cx="10698480" cy="274320"/>
          </a:xfrm>
          <a:prstGeom prst="rect">
            <a:avLst/>
          </a:prstGeom>
          <a:noFill/>
        </p:spPr>
        <p:txBody>
          <a:bodyPr wrap="square">
            <a:spAutoFit/>
          </a:bodyPr>
          <a:lstStyle/>
          <a:p>
            <a:pPr algn="l">
              <a:defRPr sz="1100" b="0">
                <a:solidFill>
                  <a:srgbClr val="6B7280"/>
                </a:solidFill>
              </a:defRPr>
            </a:pPr>
            <a:r>
              <a:t>r_bar=current error | rho=state frequency | L=learnability (non-noise) | D=coverage | SCX=best expert reliability in state s</a:t>
            </a:r>
          </a:p>
        </p:txBody>
      </p:sp>
      <p:sp>
        <p:nvSpPr>
          <p:cNvPr id="14" name="TextBox 13"/>
          <p:cNvSpPr txBox="1"/>
          <p:nvPr/>
        </p:nvSpPr>
        <p:spPr>
          <a:xfrm>
            <a:off x="731520" y="5029200"/>
            <a:ext cx="10698480" cy="914400"/>
          </a:xfrm>
          <a:prstGeom prst="rect">
            <a:avLst/>
          </a:prstGeom>
          <a:noFill/>
        </p:spPr>
        <p:txBody>
          <a:bodyPr wrap="square">
            <a:spAutoFit/>
          </a:bodyPr>
          <a:lstStyle/>
          <a:p>
            <a:pPr algn="l">
              <a:defRPr sz="1700" b="0">
                <a:solidFill>
                  <a:srgbClr val="1A1A2E"/>
                </a:solidFill>
              </a:defRPr>
            </a:pPr>
            <a:r>
              <a:t>Key insight: Data value is not an intrinsic property. The same data can be noise to Model A but high-value to Model 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640080"/>
          </a:xfrm>
          <a:prstGeom prst="rect">
            <a:avLst/>
          </a:prstGeom>
          <a:noFill/>
        </p:spPr>
        <p:txBody>
          <a:bodyPr wrap="square">
            <a:spAutoFit/>
          </a:bodyPr>
          <a:lstStyle/>
          <a:p>
            <a:pPr algn="l">
              <a:defRPr sz="2600" b="1">
                <a:solidFill>
                  <a:srgbClr val="1A1A2E"/>
                </a:solidFill>
              </a:defRPr>
            </a:pPr>
            <a:r>
              <a:t>Plain Language: Same Sample, Different Value in Different States</a:t>
            </a:r>
          </a:p>
        </p:txBody>
      </p:sp>
      <p:sp>
        <p:nvSpPr>
          <p:cNvPr id="4" name="Rounded Rectangle 3"/>
          <p:cNvSpPr/>
          <p:nvPr/>
        </p:nvSpPr>
        <p:spPr>
          <a:xfrm>
            <a:off x="274320" y="1280160"/>
            <a:ext cx="5669280" cy="228600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0"/>
            <a:ext cx="5303520" cy="365760"/>
          </a:xfrm>
          <a:prstGeom prst="rect">
            <a:avLst/>
          </a:prstGeom>
          <a:noFill/>
        </p:spPr>
        <p:txBody>
          <a:bodyPr wrap="square">
            <a:spAutoFit/>
          </a:bodyPr>
          <a:lstStyle/>
          <a:p>
            <a:pPr algn="l">
              <a:defRPr sz="1800" b="1">
                <a:solidFill>
                  <a:srgbClr val="1A1A2E"/>
                </a:solidFill>
              </a:defRPr>
            </a:pPr>
            <a:r>
              <a:t>Redundant</a:t>
            </a:r>
          </a:p>
        </p:txBody>
      </p:sp>
      <p:sp>
        <p:nvSpPr>
          <p:cNvPr id="6" name="TextBox 5"/>
          <p:cNvSpPr txBox="1"/>
          <p:nvPr/>
        </p:nvSpPr>
        <p:spPr>
          <a:xfrm>
            <a:off x="457200" y="1737360"/>
            <a:ext cx="5303520" cy="365760"/>
          </a:xfrm>
          <a:prstGeom prst="rect">
            <a:avLst/>
          </a:prstGeom>
          <a:noFill/>
        </p:spPr>
        <p:txBody>
          <a:bodyPr wrap="square">
            <a:spAutoFit/>
          </a:bodyPr>
          <a:lstStyle/>
          <a:p>
            <a:pPr algn="l">
              <a:defRPr sz="1300" b="0">
                <a:solidFill>
                  <a:srgbClr val="1A56DB"/>
                </a:solidFill>
              </a:defRPr>
            </a:pPr>
            <a:r>
              <a:t>Low error + High density</a:t>
            </a:r>
          </a:p>
        </p:txBody>
      </p:sp>
      <p:sp>
        <p:nvSpPr>
          <p:cNvPr id="7" name="TextBox 6"/>
          <p:cNvSpPr txBox="1"/>
          <p:nvPr/>
        </p:nvSpPr>
        <p:spPr>
          <a:xfrm>
            <a:off x="457200" y="2148839"/>
            <a:ext cx="5303520" cy="274320"/>
          </a:xfrm>
          <a:prstGeom prst="rect">
            <a:avLst/>
          </a:prstGeom>
          <a:noFill/>
        </p:spPr>
        <p:txBody>
          <a:bodyPr wrap="square">
            <a:spAutoFit/>
          </a:bodyPr>
          <a:lstStyle/>
          <a:p>
            <a:pPr algn="l">
              <a:defRPr sz="1400" b="1">
                <a:solidFill>
                  <a:srgbClr val="1A1A2E"/>
                </a:solidFill>
              </a:defRPr>
            </a:pPr>
            <a:r>
              <a:t>-&gt; Compress / Skip</a:t>
            </a:r>
          </a:p>
        </p:txBody>
      </p:sp>
      <p:sp>
        <p:nvSpPr>
          <p:cNvPr id="8" name="TextBox 7"/>
          <p:cNvSpPr txBox="1"/>
          <p:nvPr/>
        </p:nvSpPr>
        <p:spPr>
          <a:xfrm>
            <a:off x="457200" y="2468880"/>
            <a:ext cx="5303520" cy="1005840"/>
          </a:xfrm>
          <a:prstGeom prst="rect">
            <a:avLst/>
          </a:prstGeom>
          <a:noFill/>
        </p:spPr>
        <p:txBody>
          <a:bodyPr wrap="square">
            <a:spAutoFit/>
          </a:bodyPr>
          <a:lstStyle/>
          <a:p>
            <a:pPr>
              <a:spcAft>
                <a:spcPts val="400"/>
              </a:spcAft>
              <a:defRPr sz="1200">
                <a:solidFill>
                  <a:srgbClr val="6B7280"/>
                </a:solidFill>
              </a:defRPr>
            </a:pPr>
            <a:r>
              <a:t>Phonon 120 frames: fmax~0.66</a:t>
            </a:r>
          </a:p>
          <a:p>
            <a:pPr>
              <a:spcAft>
                <a:spcPts val="400"/>
              </a:spcAft>
              <a:defRPr sz="1200">
                <a:solidFill>
                  <a:srgbClr val="6B7280"/>
                </a:solidFill>
              </a:defRPr>
            </a:pPr>
            <a:r>
              <a:t>Estimated 50-80% compressible</a:t>
            </a:r>
          </a:p>
        </p:txBody>
      </p:sp>
      <p:sp>
        <p:nvSpPr>
          <p:cNvPr id="9" name="Rounded Rectangle 8"/>
          <p:cNvSpPr/>
          <p:nvPr/>
        </p:nvSpPr>
        <p:spPr>
          <a:xfrm>
            <a:off x="6217920" y="1280160"/>
            <a:ext cx="5669280" cy="2286000"/>
          </a:xfrm>
          <a:prstGeom prst="roundRect">
            <a:avLst/>
          </a:prstGeom>
          <a:solidFill>
            <a:srgbClr val="DBE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371600"/>
            <a:ext cx="5303520" cy="365760"/>
          </a:xfrm>
          <a:prstGeom prst="rect">
            <a:avLst/>
          </a:prstGeom>
          <a:noFill/>
        </p:spPr>
        <p:txBody>
          <a:bodyPr wrap="square">
            <a:spAutoFit/>
          </a:bodyPr>
          <a:lstStyle/>
          <a:p>
            <a:pPr algn="l">
              <a:defRPr sz="1800" b="1">
                <a:solidFill>
                  <a:srgbClr val="1A1A2E"/>
                </a:solidFill>
              </a:defRPr>
            </a:pPr>
            <a:r>
              <a:t>Valuable</a:t>
            </a:r>
          </a:p>
        </p:txBody>
      </p:sp>
      <p:sp>
        <p:nvSpPr>
          <p:cNvPr id="11" name="TextBox 10"/>
          <p:cNvSpPr txBox="1"/>
          <p:nvPr/>
        </p:nvSpPr>
        <p:spPr>
          <a:xfrm>
            <a:off x="6400800" y="1737360"/>
            <a:ext cx="5303520" cy="365760"/>
          </a:xfrm>
          <a:prstGeom prst="rect">
            <a:avLst/>
          </a:prstGeom>
          <a:noFill/>
        </p:spPr>
        <p:txBody>
          <a:bodyPr wrap="square">
            <a:spAutoFit/>
          </a:bodyPr>
          <a:lstStyle/>
          <a:p>
            <a:pPr algn="l">
              <a:defRPr sz="1300" b="0">
                <a:solidFill>
                  <a:srgbClr val="1A56DB"/>
                </a:solidFill>
              </a:defRPr>
            </a:pPr>
            <a:r>
              <a:t>High error + High density</a:t>
            </a:r>
            <a:br/>
            <a:r>
              <a:t>+ High consistency</a:t>
            </a:r>
          </a:p>
        </p:txBody>
      </p:sp>
      <p:sp>
        <p:nvSpPr>
          <p:cNvPr id="12" name="TextBox 11"/>
          <p:cNvSpPr txBox="1"/>
          <p:nvPr/>
        </p:nvSpPr>
        <p:spPr>
          <a:xfrm>
            <a:off x="6400800" y="2148839"/>
            <a:ext cx="5303520" cy="274320"/>
          </a:xfrm>
          <a:prstGeom prst="rect">
            <a:avLst/>
          </a:prstGeom>
          <a:noFill/>
        </p:spPr>
        <p:txBody>
          <a:bodyPr wrap="square">
            <a:spAutoFit/>
          </a:bodyPr>
          <a:lstStyle/>
          <a:p>
            <a:pPr algn="l">
              <a:defRPr sz="1400" b="1">
                <a:solidFill>
                  <a:srgbClr val="1A1A2E"/>
                </a:solidFill>
              </a:defRPr>
            </a:pPr>
            <a:r>
              <a:t>-&gt; Acquire More</a:t>
            </a:r>
          </a:p>
        </p:txBody>
      </p:sp>
      <p:sp>
        <p:nvSpPr>
          <p:cNvPr id="13" name="TextBox 12"/>
          <p:cNvSpPr txBox="1"/>
          <p:nvPr/>
        </p:nvSpPr>
        <p:spPr>
          <a:xfrm>
            <a:off x="6400800" y="2468880"/>
            <a:ext cx="5303520" cy="1005840"/>
          </a:xfrm>
          <a:prstGeom prst="rect">
            <a:avLst/>
          </a:prstGeom>
          <a:noFill/>
        </p:spPr>
        <p:txBody>
          <a:bodyPr wrap="square">
            <a:spAutoFit/>
          </a:bodyPr>
          <a:lstStyle/>
          <a:p>
            <a:pPr>
              <a:spcAft>
                <a:spcPts val="400"/>
              </a:spcAft>
              <a:defRPr sz="1200">
                <a:solidFill>
                  <a:srgbClr val="6B7280"/>
                </a:solidFill>
              </a:defRPr>
            </a:pPr>
            <a:r>
              <a:t>EOS extreme-strain region</a:t>
            </a:r>
          </a:p>
          <a:p>
            <a:pPr>
              <a:spcAft>
                <a:spcPts val="400"/>
              </a:spcAft>
              <a:defRPr sz="1200">
                <a:solidFill>
                  <a:srgbClr val="6B7280"/>
                </a:solidFill>
              </a:defRPr>
            </a:pPr>
            <a:r>
              <a:t>Elastic deformation directions</a:t>
            </a:r>
          </a:p>
        </p:txBody>
      </p:sp>
      <p:sp>
        <p:nvSpPr>
          <p:cNvPr id="14" name="Rounded Rectangle 13"/>
          <p:cNvSpPr/>
          <p:nvPr/>
        </p:nvSpPr>
        <p:spPr>
          <a:xfrm>
            <a:off x="274320" y="3840479"/>
            <a:ext cx="5669280" cy="2286000"/>
          </a:xfrm>
          <a:prstGeom prst="roundRect">
            <a:avLst/>
          </a:prstGeom>
          <a:solidFill>
            <a:srgbClr val="FD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931919"/>
            <a:ext cx="5303520" cy="365760"/>
          </a:xfrm>
          <a:prstGeom prst="rect">
            <a:avLst/>
          </a:prstGeom>
          <a:noFill/>
        </p:spPr>
        <p:txBody>
          <a:bodyPr wrap="square">
            <a:spAutoFit/>
          </a:bodyPr>
          <a:lstStyle/>
          <a:p>
            <a:pPr algn="l">
              <a:defRPr sz="1800" b="1">
                <a:solidFill>
                  <a:srgbClr val="1A1A2E"/>
                </a:solidFill>
              </a:defRPr>
            </a:pPr>
            <a:r>
              <a:t>Noisy / Bad Labels</a:t>
            </a:r>
          </a:p>
        </p:txBody>
      </p:sp>
      <p:sp>
        <p:nvSpPr>
          <p:cNvPr id="16" name="TextBox 15"/>
          <p:cNvSpPr txBox="1"/>
          <p:nvPr/>
        </p:nvSpPr>
        <p:spPr>
          <a:xfrm>
            <a:off x="457200" y="4297679"/>
            <a:ext cx="5303520" cy="365760"/>
          </a:xfrm>
          <a:prstGeom prst="rect">
            <a:avLst/>
          </a:prstGeom>
          <a:noFill/>
        </p:spPr>
        <p:txBody>
          <a:bodyPr wrap="square">
            <a:spAutoFit/>
          </a:bodyPr>
          <a:lstStyle/>
          <a:p>
            <a:pPr algn="l">
              <a:defRPr sz="1300" b="0">
                <a:solidFill>
                  <a:srgbClr val="1A56DB"/>
                </a:solidFill>
              </a:defRPr>
            </a:pPr>
            <a:r>
              <a:t>High error + Low density</a:t>
            </a:r>
            <a:br/>
            <a:r>
              <a:t>+ Low consistency</a:t>
            </a:r>
          </a:p>
        </p:txBody>
      </p:sp>
      <p:sp>
        <p:nvSpPr>
          <p:cNvPr id="17" name="TextBox 16"/>
          <p:cNvSpPr txBox="1"/>
          <p:nvPr/>
        </p:nvSpPr>
        <p:spPr>
          <a:xfrm>
            <a:off x="457200" y="4709159"/>
            <a:ext cx="5303520" cy="274320"/>
          </a:xfrm>
          <a:prstGeom prst="rect">
            <a:avLst/>
          </a:prstGeom>
          <a:noFill/>
        </p:spPr>
        <p:txBody>
          <a:bodyPr wrap="square">
            <a:spAutoFit/>
          </a:bodyPr>
          <a:lstStyle/>
          <a:p>
            <a:pPr algn="l">
              <a:defRPr sz="1400" b="1">
                <a:solidFill>
                  <a:srgbClr val="1A1A2E"/>
                </a:solidFill>
              </a:defRPr>
            </a:pPr>
            <a:r>
              <a:t>-&gt; Recompute/Downweight</a:t>
            </a:r>
          </a:p>
        </p:txBody>
      </p:sp>
      <p:sp>
        <p:nvSpPr>
          <p:cNvPr id="18" name="TextBox 17"/>
          <p:cNvSpPr txBox="1"/>
          <p:nvPr/>
        </p:nvSpPr>
        <p:spPr>
          <a:xfrm>
            <a:off x="457200" y="5029199"/>
            <a:ext cx="5303520" cy="1005840"/>
          </a:xfrm>
          <a:prstGeom prst="rect">
            <a:avLst/>
          </a:prstGeom>
          <a:noFill/>
        </p:spPr>
        <p:txBody>
          <a:bodyPr wrap="square">
            <a:spAutoFit/>
          </a:bodyPr>
          <a:lstStyle/>
          <a:p>
            <a:pPr>
              <a:spcAft>
                <a:spcPts val="400"/>
              </a:spcAft>
              <a:defRPr sz="1200">
                <a:solidFill>
                  <a:srgbClr val="6B7280"/>
                </a:solidFill>
              </a:defRPr>
            </a:pPr>
            <a:r>
              <a:t>Thermal 1800K: 49.1% fmax&gt;5</a:t>
            </a:r>
          </a:p>
          <a:p>
            <a:pPr>
              <a:spcAft>
                <a:spcPts val="400"/>
              </a:spcAft>
              <a:defRPr sz="1200">
                <a:solidFill>
                  <a:srgbClr val="6B7280"/>
                </a:solidFill>
              </a:defRPr>
            </a:pPr>
            <a:r>
              <a:t>14 frames fmax&gt;10 (extreme anomaly)</a:t>
            </a:r>
          </a:p>
        </p:txBody>
      </p:sp>
      <p:sp>
        <p:nvSpPr>
          <p:cNvPr id="19" name="Rounded Rectangle 18"/>
          <p:cNvSpPr/>
          <p:nvPr/>
        </p:nvSpPr>
        <p:spPr>
          <a:xfrm>
            <a:off x="6217920" y="3840479"/>
            <a:ext cx="5669280" cy="2286000"/>
          </a:xfrm>
          <a:prstGeom prst="roundRect">
            <a:avLst/>
          </a:prstGeom>
          <a:solidFill>
            <a:srgbClr val="FE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3931919"/>
            <a:ext cx="5303520" cy="365760"/>
          </a:xfrm>
          <a:prstGeom prst="rect">
            <a:avLst/>
          </a:prstGeom>
          <a:noFill/>
        </p:spPr>
        <p:txBody>
          <a:bodyPr wrap="square">
            <a:spAutoFit/>
          </a:bodyPr>
          <a:lstStyle/>
          <a:p>
            <a:pPr algn="l">
              <a:defRPr sz="1800" b="1">
                <a:solidFill>
                  <a:srgbClr val="1A1A2E"/>
                </a:solidFill>
              </a:defRPr>
            </a:pPr>
            <a:r>
              <a:t>Expert-Dependent</a:t>
            </a:r>
          </a:p>
        </p:txBody>
      </p:sp>
      <p:sp>
        <p:nvSpPr>
          <p:cNvPr id="21" name="TextBox 20"/>
          <p:cNvSpPr txBox="1"/>
          <p:nvPr/>
        </p:nvSpPr>
        <p:spPr>
          <a:xfrm>
            <a:off x="6400800" y="4297679"/>
            <a:ext cx="5303520" cy="365760"/>
          </a:xfrm>
          <a:prstGeom prst="rect">
            <a:avLst/>
          </a:prstGeom>
          <a:noFill/>
        </p:spPr>
        <p:txBody>
          <a:bodyPr wrap="square">
            <a:spAutoFit/>
          </a:bodyPr>
          <a:lstStyle/>
          <a:p>
            <a:pPr algn="l">
              <a:defRPr sz="1300" b="0">
                <a:solidFill>
                  <a:srgbClr val="1A56DB"/>
                </a:solidFill>
              </a:defRPr>
            </a:pPr>
            <a:r>
              <a:t>One expert significantly</a:t>
            </a:r>
            <a:br/>
            <a:r>
              <a:t>better in this state</a:t>
            </a:r>
          </a:p>
        </p:txBody>
      </p:sp>
      <p:sp>
        <p:nvSpPr>
          <p:cNvPr id="22" name="TextBox 21"/>
          <p:cNvSpPr txBox="1"/>
          <p:nvPr/>
        </p:nvSpPr>
        <p:spPr>
          <a:xfrm>
            <a:off x="6400800" y="4709159"/>
            <a:ext cx="5303520" cy="274320"/>
          </a:xfrm>
          <a:prstGeom prst="rect">
            <a:avLst/>
          </a:prstGeom>
          <a:noFill/>
        </p:spPr>
        <p:txBody>
          <a:bodyPr wrap="square">
            <a:spAutoFit/>
          </a:bodyPr>
          <a:lstStyle/>
          <a:p>
            <a:pPr algn="l">
              <a:defRPr sz="1400" b="1">
                <a:solidFill>
                  <a:srgbClr val="1A1A2E"/>
                </a:solidFill>
              </a:defRPr>
            </a:pPr>
            <a:r>
              <a:t>-&gt; Route to Best Expert</a:t>
            </a:r>
          </a:p>
        </p:txBody>
      </p:sp>
      <p:sp>
        <p:nvSpPr>
          <p:cNvPr id="23" name="TextBox 22"/>
          <p:cNvSpPr txBox="1"/>
          <p:nvPr/>
        </p:nvSpPr>
        <p:spPr>
          <a:xfrm>
            <a:off x="6400800" y="5029199"/>
            <a:ext cx="5303520" cy="1005840"/>
          </a:xfrm>
          <a:prstGeom prst="rect">
            <a:avLst/>
          </a:prstGeom>
          <a:noFill/>
        </p:spPr>
        <p:txBody>
          <a:bodyPr wrap="square">
            <a:spAutoFit/>
          </a:bodyPr>
          <a:lstStyle/>
          <a:p>
            <a:pPr>
              <a:spcAft>
                <a:spcPts val="400"/>
              </a:spcAft>
              <a:defRPr sz="1200">
                <a:solidFill>
                  <a:srgbClr val="6B7280"/>
                </a:solidFill>
              </a:defRPr>
            </a:pPr>
            <a:r>
              <a:t>MLMD stress10 region</a:t>
            </a:r>
          </a:p>
          <a:p>
            <a:pPr>
              <a:spcAft>
                <a:spcPts val="400"/>
              </a:spcAft>
              <a:defRPr sz="1200">
                <a:solidFill>
                  <a:srgbClr val="6B7280"/>
                </a:solidFill>
              </a:defRPr>
            </a:pPr>
            <a:r>
              <a:t>Route to high-T specialist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640080"/>
          </a:xfrm>
          <a:prstGeom prst="rect">
            <a:avLst/>
          </a:prstGeom>
          <a:noFill/>
        </p:spPr>
        <p:txBody>
          <a:bodyPr wrap="square">
            <a:spAutoFit/>
          </a:bodyPr>
          <a:lstStyle/>
          <a:p>
            <a:pPr algn="l">
              <a:defRPr sz="2800" b="1">
                <a:solidFill>
                  <a:srgbClr val="1A1A2E"/>
                </a:solidFill>
              </a:defRPr>
            </a:pPr>
            <a:r>
              <a:t>SCX Four-Class Data Taxonomy</a:t>
            </a:r>
          </a:p>
        </p:txBody>
      </p:sp>
      <p:sp>
        <p:nvSpPr>
          <p:cNvPr id="4" name="Rectangle 3"/>
          <p:cNvSpPr/>
          <p:nvPr/>
        </p:nvSpPr>
        <p:spPr>
          <a:xfrm>
            <a:off x="457200" y="1280160"/>
            <a:ext cx="73152" cy="10972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25880"/>
            <a:ext cx="1828800" cy="1005840"/>
          </a:xfrm>
          <a:prstGeom prst="rect">
            <a:avLst/>
          </a:prstGeom>
          <a:noFill/>
        </p:spPr>
        <p:txBody>
          <a:bodyPr wrap="square">
            <a:spAutoFit/>
          </a:bodyPr>
          <a:lstStyle/>
          <a:p>
            <a:pPr algn="l">
              <a:defRPr sz="1800" b="1">
                <a:solidFill>
                  <a:srgbClr val="1A1A2E"/>
                </a:solidFill>
              </a:defRPr>
            </a:pPr>
            <a:r>
              <a:t>Valuable</a:t>
            </a:r>
          </a:p>
        </p:txBody>
      </p:sp>
      <p:sp>
        <p:nvSpPr>
          <p:cNvPr id="6" name="TextBox 5"/>
          <p:cNvSpPr txBox="1"/>
          <p:nvPr/>
        </p:nvSpPr>
        <p:spPr>
          <a:xfrm>
            <a:off x="2743200" y="1325880"/>
            <a:ext cx="2743200" cy="1005840"/>
          </a:xfrm>
          <a:prstGeom prst="rect">
            <a:avLst/>
          </a:prstGeom>
          <a:noFill/>
        </p:spPr>
        <p:txBody>
          <a:bodyPr wrap="square">
            <a:spAutoFit/>
          </a:bodyPr>
          <a:lstStyle/>
          <a:p>
            <a:pPr algn="l">
              <a:defRPr sz="1400" b="0">
                <a:solidFill>
                  <a:srgbClr val="6B7280"/>
                </a:solidFill>
              </a:defRPr>
            </a:pPr>
            <a:r>
              <a:t>High err + High density + High consistency + Low coverage</a:t>
            </a:r>
          </a:p>
        </p:txBody>
      </p:sp>
      <p:sp>
        <p:nvSpPr>
          <p:cNvPr id="7" name="TextBox 6"/>
          <p:cNvSpPr txBox="1"/>
          <p:nvPr/>
        </p:nvSpPr>
        <p:spPr>
          <a:xfrm>
            <a:off x="5669280" y="1325880"/>
            <a:ext cx="2286000" cy="1005840"/>
          </a:xfrm>
          <a:prstGeom prst="rect">
            <a:avLst/>
          </a:prstGeom>
          <a:noFill/>
        </p:spPr>
        <p:txBody>
          <a:bodyPr wrap="square">
            <a:spAutoFit/>
          </a:bodyPr>
          <a:lstStyle/>
          <a:p>
            <a:pPr algn="l">
              <a:defRPr sz="1600" b="1">
                <a:solidFill>
                  <a:srgbClr val="1A56DB"/>
                </a:solidFill>
              </a:defRPr>
            </a:pPr>
            <a:r>
              <a:t>-&gt; Acquire More</a:t>
            </a:r>
          </a:p>
        </p:txBody>
      </p:sp>
      <p:sp>
        <p:nvSpPr>
          <p:cNvPr id="8" name="TextBox 7"/>
          <p:cNvSpPr txBox="1"/>
          <p:nvPr/>
        </p:nvSpPr>
        <p:spPr>
          <a:xfrm>
            <a:off x="8229600" y="1325880"/>
            <a:ext cx="3657600" cy="1005840"/>
          </a:xfrm>
          <a:prstGeom prst="rect">
            <a:avLst/>
          </a:prstGeom>
          <a:noFill/>
        </p:spPr>
        <p:txBody>
          <a:bodyPr wrap="square">
            <a:spAutoFit/>
          </a:bodyPr>
          <a:lstStyle/>
          <a:p>
            <a:pPr algn="l">
              <a:defRPr sz="1300" b="0">
                <a:solidFill>
                  <a:srgbClr val="6B7280"/>
                </a:solidFill>
              </a:defRPr>
            </a:pPr>
            <a:r>
              <a:t>EOS extreme strain, elastic deformation regions</a:t>
            </a:r>
          </a:p>
        </p:txBody>
      </p:sp>
      <p:sp>
        <p:nvSpPr>
          <p:cNvPr id="9" name="Rectangle 8"/>
          <p:cNvSpPr/>
          <p:nvPr/>
        </p:nvSpPr>
        <p:spPr>
          <a:xfrm>
            <a:off x="457200" y="2606039"/>
            <a:ext cx="73152" cy="1097280"/>
          </a:xfrm>
          <a:prstGeom prst="rect">
            <a:avLst/>
          </a:prstGeom>
          <a:solidFill>
            <a:srgbClr val="0D9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651759"/>
            <a:ext cx="1828800" cy="1005840"/>
          </a:xfrm>
          <a:prstGeom prst="rect">
            <a:avLst/>
          </a:prstGeom>
          <a:noFill/>
        </p:spPr>
        <p:txBody>
          <a:bodyPr wrap="square">
            <a:spAutoFit/>
          </a:bodyPr>
          <a:lstStyle/>
          <a:p>
            <a:pPr algn="l">
              <a:defRPr sz="1800" b="1">
                <a:solidFill>
                  <a:srgbClr val="1A1A2E"/>
                </a:solidFill>
              </a:defRPr>
            </a:pPr>
            <a:r>
              <a:t>Redundant</a:t>
            </a:r>
          </a:p>
        </p:txBody>
      </p:sp>
      <p:sp>
        <p:nvSpPr>
          <p:cNvPr id="11" name="TextBox 10"/>
          <p:cNvSpPr txBox="1"/>
          <p:nvPr/>
        </p:nvSpPr>
        <p:spPr>
          <a:xfrm>
            <a:off x="2743200" y="2651759"/>
            <a:ext cx="2743200" cy="1005840"/>
          </a:xfrm>
          <a:prstGeom prst="rect">
            <a:avLst/>
          </a:prstGeom>
          <a:noFill/>
        </p:spPr>
        <p:txBody>
          <a:bodyPr wrap="square">
            <a:spAutoFit/>
          </a:bodyPr>
          <a:lstStyle/>
          <a:p>
            <a:pPr algn="l">
              <a:defRPr sz="1400" b="0">
                <a:solidFill>
                  <a:srgbClr val="6B7280"/>
                </a:solidFill>
              </a:defRPr>
            </a:pPr>
            <a:r>
              <a:t>Low err + High density + High coverage</a:t>
            </a:r>
          </a:p>
        </p:txBody>
      </p:sp>
      <p:sp>
        <p:nvSpPr>
          <p:cNvPr id="12" name="TextBox 11"/>
          <p:cNvSpPr txBox="1"/>
          <p:nvPr/>
        </p:nvSpPr>
        <p:spPr>
          <a:xfrm>
            <a:off x="5669280" y="2651759"/>
            <a:ext cx="2286000" cy="1005840"/>
          </a:xfrm>
          <a:prstGeom prst="rect">
            <a:avLst/>
          </a:prstGeom>
          <a:noFill/>
        </p:spPr>
        <p:txBody>
          <a:bodyPr wrap="square">
            <a:spAutoFit/>
          </a:bodyPr>
          <a:lstStyle/>
          <a:p>
            <a:pPr algn="l">
              <a:defRPr sz="1600" b="1">
                <a:solidFill>
                  <a:srgbClr val="0D948B"/>
                </a:solidFill>
              </a:defRPr>
            </a:pPr>
            <a:r>
              <a:t>-&gt; Compress / Skip</a:t>
            </a:r>
          </a:p>
        </p:txBody>
      </p:sp>
      <p:sp>
        <p:nvSpPr>
          <p:cNvPr id="13" name="TextBox 12"/>
          <p:cNvSpPr txBox="1"/>
          <p:nvPr/>
        </p:nvSpPr>
        <p:spPr>
          <a:xfrm>
            <a:off x="8229600" y="2651759"/>
            <a:ext cx="3657600" cy="1005840"/>
          </a:xfrm>
          <a:prstGeom prst="rect">
            <a:avLst/>
          </a:prstGeom>
          <a:noFill/>
        </p:spPr>
        <p:txBody>
          <a:bodyPr wrap="square">
            <a:spAutoFit/>
          </a:bodyPr>
          <a:lstStyle/>
          <a:p>
            <a:pPr algn="l">
              <a:defRPr sz="1300" b="0">
                <a:solidFill>
                  <a:srgbClr val="6B7280"/>
                </a:solidFill>
              </a:defRPr>
            </a:pPr>
            <a:r>
              <a:t>Phonon 120 frames: compress 50-80% without accuracy loss</a:t>
            </a:r>
          </a:p>
        </p:txBody>
      </p:sp>
      <p:sp>
        <p:nvSpPr>
          <p:cNvPr id="14" name="Rectangle 13"/>
          <p:cNvSpPr/>
          <p:nvPr/>
        </p:nvSpPr>
        <p:spPr>
          <a:xfrm>
            <a:off x="457200" y="3931920"/>
            <a:ext cx="73152" cy="10972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977639"/>
            <a:ext cx="1828800" cy="1005840"/>
          </a:xfrm>
          <a:prstGeom prst="rect">
            <a:avLst/>
          </a:prstGeom>
          <a:noFill/>
        </p:spPr>
        <p:txBody>
          <a:bodyPr wrap="square">
            <a:spAutoFit/>
          </a:bodyPr>
          <a:lstStyle/>
          <a:p>
            <a:pPr algn="l">
              <a:defRPr sz="1800" b="1">
                <a:solidFill>
                  <a:srgbClr val="1A1A2E"/>
                </a:solidFill>
              </a:defRPr>
            </a:pPr>
            <a:r>
              <a:t>Noisy-Risk</a:t>
            </a:r>
          </a:p>
        </p:txBody>
      </p:sp>
      <p:sp>
        <p:nvSpPr>
          <p:cNvPr id="16" name="TextBox 15"/>
          <p:cNvSpPr txBox="1"/>
          <p:nvPr/>
        </p:nvSpPr>
        <p:spPr>
          <a:xfrm>
            <a:off x="2743200" y="3977639"/>
            <a:ext cx="2743200" cy="1005840"/>
          </a:xfrm>
          <a:prstGeom prst="rect">
            <a:avLst/>
          </a:prstGeom>
          <a:noFill/>
        </p:spPr>
        <p:txBody>
          <a:bodyPr wrap="square">
            <a:spAutoFit/>
          </a:bodyPr>
          <a:lstStyle/>
          <a:p>
            <a:pPr algn="l">
              <a:defRPr sz="1400" b="0">
                <a:solidFill>
                  <a:srgbClr val="6B7280"/>
                </a:solidFill>
              </a:defRPr>
            </a:pPr>
            <a:r>
              <a:t>High err + Low density + Low consistency</a:t>
            </a:r>
          </a:p>
        </p:txBody>
      </p:sp>
      <p:sp>
        <p:nvSpPr>
          <p:cNvPr id="17" name="TextBox 16"/>
          <p:cNvSpPr txBox="1"/>
          <p:nvPr/>
        </p:nvSpPr>
        <p:spPr>
          <a:xfrm>
            <a:off x="5669280" y="3977639"/>
            <a:ext cx="2286000" cy="1005840"/>
          </a:xfrm>
          <a:prstGeom prst="rect">
            <a:avLst/>
          </a:prstGeom>
          <a:noFill/>
        </p:spPr>
        <p:txBody>
          <a:bodyPr wrap="square">
            <a:spAutoFit/>
          </a:bodyPr>
          <a:lstStyle/>
          <a:p>
            <a:pPr algn="l">
              <a:defRPr sz="1600" b="1">
                <a:solidFill>
                  <a:srgbClr val="DC2626"/>
                </a:solidFill>
              </a:defRPr>
            </a:pPr>
            <a:r>
              <a:t>-&gt; Recompute / Downweight / Discard</a:t>
            </a:r>
          </a:p>
        </p:txBody>
      </p:sp>
      <p:sp>
        <p:nvSpPr>
          <p:cNvPr id="18" name="TextBox 17"/>
          <p:cNvSpPr txBox="1"/>
          <p:nvPr/>
        </p:nvSpPr>
        <p:spPr>
          <a:xfrm>
            <a:off x="8229600" y="3977639"/>
            <a:ext cx="3657600" cy="1005840"/>
          </a:xfrm>
          <a:prstGeom prst="rect">
            <a:avLst/>
          </a:prstGeom>
          <a:noFill/>
        </p:spPr>
        <p:txBody>
          <a:bodyPr wrap="square">
            <a:spAutoFit/>
          </a:bodyPr>
          <a:lstStyle/>
          <a:p>
            <a:pPr algn="l">
              <a:defRPr sz="1300" b="0">
                <a:solidFill>
                  <a:srgbClr val="6B7280"/>
                </a:solidFill>
              </a:defRPr>
            </a:pPr>
            <a:r>
              <a:t>Thermal 1800K: 49% anomaly; MLMD stress10: 35% anomaly</a:t>
            </a:r>
          </a:p>
        </p:txBody>
      </p:sp>
      <p:sp>
        <p:nvSpPr>
          <p:cNvPr id="19" name="Rectangle 18"/>
          <p:cNvSpPr/>
          <p:nvPr/>
        </p:nvSpPr>
        <p:spPr>
          <a:xfrm>
            <a:off x="457200" y="5257800"/>
            <a:ext cx="73152" cy="1097280"/>
          </a:xfrm>
          <a:prstGeom prst="rect">
            <a:avLst/>
          </a:prstGeom>
          <a:solidFill>
            <a:srgbClr val="E6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303520"/>
            <a:ext cx="1828800" cy="1005840"/>
          </a:xfrm>
          <a:prstGeom prst="rect">
            <a:avLst/>
          </a:prstGeom>
          <a:noFill/>
        </p:spPr>
        <p:txBody>
          <a:bodyPr wrap="square">
            <a:spAutoFit/>
          </a:bodyPr>
          <a:lstStyle/>
          <a:p>
            <a:pPr algn="l">
              <a:defRPr sz="1800" b="1">
                <a:solidFill>
                  <a:srgbClr val="1A1A2E"/>
                </a:solidFill>
              </a:defRPr>
            </a:pPr>
            <a:r>
              <a:t>Expert-Dep.</a:t>
            </a:r>
          </a:p>
        </p:txBody>
      </p:sp>
      <p:sp>
        <p:nvSpPr>
          <p:cNvPr id="21" name="TextBox 20"/>
          <p:cNvSpPr txBox="1"/>
          <p:nvPr/>
        </p:nvSpPr>
        <p:spPr>
          <a:xfrm>
            <a:off x="2743200" y="5303520"/>
            <a:ext cx="2743200" cy="1005840"/>
          </a:xfrm>
          <a:prstGeom prst="rect">
            <a:avLst/>
          </a:prstGeom>
          <a:noFill/>
        </p:spPr>
        <p:txBody>
          <a:bodyPr wrap="square">
            <a:spAutoFit/>
          </a:bodyPr>
          <a:lstStyle/>
          <a:p>
            <a:pPr algn="l">
              <a:defRPr sz="1400" b="0">
                <a:solidFill>
                  <a:srgbClr val="6B7280"/>
                </a:solidFill>
              </a:defRPr>
            </a:pPr>
            <a:r>
              <a:t>One expert significantly better than others here</a:t>
            </a:r>
          </a:p>
        </p:txBody>
      </p:sp>
      <p:sp>
        <p:nvSpPr>
          <p:cNvPr id="22" name="TextBox 21"/>
          <p:cNvSpPr txBox="1"/>
          <p:nvPr/>
        </p:nvSpPr>
        <p:spPr>
          <a:xfrm>
            <a:off x="5669280" y="5303520"/>
            <a:ext cx="2286000" cy="1005840"/>
          </a:xfrm>
          <a:prstGeom prst="rect">
            <a:avLst/>
          </a:prstGeom>
          <a:noFill/>
        </p:spPr>
        <p:txBody>
          <a:bodyPr wrap="square">
            <a:spAutoFit/>
          </a:bodyPr>
          <a:lstStyle/>
          <a:p>
            <a:pPr algn="l">
              <a:defRPr sz="1600" b="1">
                <a:solidFill>
                  <a:srgbClr val="E68A00"/>
                </a:solidFill>
              </a:defRPr>
            </a:pPr>
            <a:r>
              <a:t>-&gt; Route to Specialist</a:t>
            </a:r>
          </a:p>
        </p:txBody>
      </p:sp>
      <p:sp>
        <p:nvSpPr>
          <p:cNvPr id="23" name="TextBox 22"/>
          <p:cNvSpPr txBox="1"/>
          <p:nvPr/>
        </p:nvSpPr>
        <p:spPr>
          <a:xfrm>
            <a:off x="8229600" y="5303520"/>
            <a:ext cx="3657600" cy="1005840"/>
          </a:xfrm>
          <a:prstGeom prst="rect">
            <a:avLst/>
          </a:prstGeom>
          <a:noFill/>
        </p:spPr>
        <p:txBody>
          <a:bodyPr wrap="square">
            <a:spAutoFit/>
          </a:bodyPr>
          <a:lstStyle/>
          <a:p>
            <a:pPr algn="l">
              <a:defRPr sz="1300" b="0">
                <a:solidFill>
                  <a:srgbClr val="6B7280"/>
                </a:solidFill>
              </a:defRPr>
            </a:pPr>
            <a:r>
              <a:t>MLMD high-T needs specialist; surface/defect needs transfer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640080"/>
          </a:xfrm>
          <a:prstGeom prst="rect">
            <a:avLst/>
          </a:prstGeom>
          <a:noFill/>
        </p:spPr>
        <p:txBody>
          <a:bodyPr wrap="square">
            <a:spAutoFit/>
          </a:bodyPr>
          <a:lstStyle/>
          <a:p>
            <a:pPr algn="l">
              <a:defRPr sz="2800" b="1">
                <a:solidFill>
                  <a:srgbClr val="1A1A2E"/>
                </a:solidFill>
              </a:defRPr>
            </a:pPr>
            <a:r>
              <a:t>Why MLIP is the First Proving Ground for SCX</a:t>
            </a:r>
          </a:p>
        </p:txBody>
      </p:sp>
      <p:sp>
        <p:nvSpPr>
          <p:cNvPr id="4" name="Rounded Rectangle 3"/>
          <p:cNvSpPr/>
          <p:nvPr/>
        </p:nvSpPr>
        <p:spPr>
          <a:xfrm>
            <a:off x="457200" y="1371600"/>
            <a:ext cx="11247120" cy="128016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10698480" cy="365760"/>
          </a:xfrm>
          <a:prstGeom prst="rect">
            <a:avLst/>
          </a:prstGeom>
          <a:noFill/>
        </p:spPr>
        <p:txBody>
          <a:bodyPr wrap="square">
            <a:spAutoFit/>
          </a:bodyPr>
          <a:lstStyle/>
          <a:p>
            <a:pPr algn="l">
              <a:defRPr sz="2000" b="1">
                <a:solidFill>
                  <a:srgbClr val="1A1A2E"/>
                </a:solidFill>
              </a:defRPr>
            </a:pPr>
            <a:r>
              <a:t>1. Natural State Encoder</a:t>
            </a:r>
          </a:p>
        </p:txBody>
      </p:sp>
      <p:sp>
        <p:nvSpPr>
          <p:cNvPr id="6" name="TextBox 5"/>
          <p:cNvSpPr txBox="1"/>
          <p:nvPr/>
        </p:nvSpPr>
        <p:spPr>
          <a:xfrm>
            <a:off x="731520" y="1874519"/>
            <a:ext cx="10698480" cy="640080"/>
          </a:xfrm>
          <a:prstGeom prst="rect">
            <a:avLst/>
          </a:prstGeom>
          <a:noFill/>
        </p:spPr>
        <p:txBody>
          <a:bodyPr wrap="square">
            <a:spAutoFit/>
          </a:bodyPr>
          <a:lstStyle/>
          <a:p>
            <a:pPr algn="l">
              <a:defRPr sz="1400" b="0">
                <a:solidFill>
                  <a:srgbClr val="6B7280"/>
                </a:solidFill>
              </a:defRPr>
            </a:pPr>
            <a:r>
              <a:t>ACE descriptor maps any atomic configuration to a 182-dim basis space. Similar configurations -&gt; similar basis vectors. No need to train an extra embedding network. Physics provides the encoder.</a:t>
            </a:r>
          </a:p>
        </p:txBody>
      </p:sp>
      <p:sp>
        <p:nvSpPr>
          <p:cNvPr id="7" name="Rounded Rectangle 6"/>
          <p:cNvSpPr/>
          <p:nvPr/>
        </p:nvSpPr>
        <p:spPr>
          <a:xfrm>
            <a:off x="457200" y="2834640"/>
            <a:ext cx="11247120" cy="1280160"/>
          </a:xfrm>
          <a:prstGeom prst="roundRect">
            <a:avLst/>
          </a:prstGeom>
          <a:solidFill>
            <a:srgbClr val="DBE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926080"/>
            <a:ext cx="10698480" cy="365760"/>
          </a:xfrm>
          <a:prstGeom prst="rect">
            <a:avLst/>
          </a:prstGeom>
          <a:noFill/>
        </p:spPr>
        <p:txBody>
          <a:bodyPr wrap="square">
            <a:spAutoFit/>
          </a:bodyPr>
          <a:lstStyle/>
          <a:p>
            <a:pPr algn="l">
              <a:defRPr sz="2000" b="1">
                <a:solidFill>
                  <a:srgbClr val="1A1A2E"/>
                </a:solidFill>
              </a:defRPr>
            </a:pPr>
            <a:r>
              <a:t>2. Reliable Reference Labels</a:t>
            </a:r>
          </a:p>
        </p:txBody>
      </p:sp>
      <p:sp>
        <p:nvSpPr>
          <p:cNvPr id="9" name="TextBox 8"/>
          <p:cNvSpPr txBox="1"/>
          <p:nvPr/>
        </p:nvSpPr>
        <p:spPr>
          <a:xfrm>
            <a:off x="731520" y="3337560"/>
            <a:ext cx="10698480" cy="640080"/>
          </a:xfrm>
          <a:prstGeom prst="rect">
            <a:avLst/>
          </a:prstGeom>
          <a:noFill/>
        </p:spPr>
        <p:txBody>
          <a:bodyPr wrap="square">
            <a:spAutoFit/>
          </a:bodyPr>
          <a:lstStyle/>
          <a:p>
            <a:pPr algn="l">
              <a:defRPr sz="1400" b="0">
                <a:solidFill>
                  <a:srgbClr val="6B7280"/>
                </a:solidFill>
              </a:defRPr>
            </a:pPr>
            <a:r>
              <a:t>DFT provides trustworthy (though expensive) energy/force/stress labels. With ground truth, we can draw residual maps and judge expert quality. This provides an anchor absent in purely unsupervised settings.</a:t>
            </a:r>
          </a:p>
        </p:txBody>
      </p:sp>
      <p:sp>
        <p:nvSpPr>
          <p:cNvPr id="10" name="Rounded Rectangle 9"/>
          <p:cNvSpPr/>
          <p:nvPr/>
        </p:nvSpPr>
        <p:spPr>
          <a:xfrm>
            <a:off x="457200" y="4297680"/>
            <a:ext cx="11247120" cy="128016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389120"/>
            <a:ext cx="10698480" cy="365760"/>
          </a:xfrm>
          <a:prstGeom prst="rect">
            <a:avLst/>
          </a:prstGeom>
          <a:noFill/>
        </p:spPr>
        <p:txBody>
          <a:bodyPr wrap="square">
            <a:spAutoFit/>
          </a:bodyPr>
          <a:lstStyle/>
          <a:p>
            <a:pPr algn="l">
              <a:defRPr sz="2000" b="1">
                <a:solidFill>
                  <a:srgbClr val="1A1A2E"/>
                </a:solidFill>
              </a:defRPr>
            </a:pPr>
            <a:r>
              <a:t>3. Natural Multi-Expert Scenario</a:t>
            </a:r>
          </a:p>
        </p:txBody>
      </p:sp>
      <p:sp>
        <p:nvSpPr>
          <p:cNvPr id="12" name="TextBox 11"/>
          <p:cNvSpPr txBox="1"/>
          <p:nvPr/>
        </p:nvSpPr>
        <p:spPr>
          <a:xfrm>
            <a:off x="731520" y="4800600"/>
            <a:ext cx="10698480" cy="640080"/>
          </a:xfrm>
          <a:prstGeom prst="rect">
            <a:avLst/>
          </a:prstGeom>
          <a:noFill/>
        </p:spPr>
        <p:txBody>
          <a:bodyPr wrap="square">
            <a:spAutoFit/>
          </a:bodyPr>
          <a:lstStyle/>
          <a:p>
            <a:pPr algn="l">
              <a:defRPr sz="1400" b="0">
                <a:solidFill>
                  <a:srgbClr val="6B7280"/>
                </a:solidFill>
              </a:defRPr>
            </a:pPr>
            <a:r>
              <a:t>Same training set -&gt; multiple potentials (different architectures, initializations, data subsets). Their performance naturally differs across configuration regions -- exactly what SCX needs to compare.</a:t>
            </a:r>
          </a:p>
        </p:txBody>
      </p:sp>
      <p:sp>
        <p:nvSpPr>
          <p:cNvPr id="13" name="TextBox 12"/>
          <p:cNvSpPr txBox="1"/>
          <p:nvPr/>
        </p:nvSpPr>
        <p:spPr>
          <a:xfrm>
            <a:off x="731520" y="5943600"/>
            <a:ext cx="10698480" cy="457200"/>
          </a:xfrm>
          <a:prstGeom prst="rect">
            <a:avLst/>
          </a:prstGeom>
          <a:noFill/>
        </p:spPr>
        <p:txBody>
          <a:bodyPr wrap="square">
            <a:spAutoFit/>
          </a:bodyPr>
          <a:lstStyle/>
          <a:p>
            <a:pPr algn="l">
              <a:defRPr sz="1700" b="1">
                <a:solidFill>
                  <a:srgbClr val="1A56DB"/>
                </a:solidFill>
              </a:defRPr>
            </a:pPr>
            <a:r>
              <a:t>Summary: MLIP = Natural Encoder (ACE) + Reliable Labels (DFT) + Multi-Expert Comparison -&gt; Ideal Starting Point for SCX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640080"/>
          </a:xfrm>
          <a:prstGeom prst="rect">
            <a:avLst/>
          </a:prstGeom>
          <a:noFill/>
        </p:spPr>
        <p:txBody>
          <a:bodyPr wrap="square">
            <a:spAutoFit/>
          </a:bodyPr>
          <a:lstStyle/>
          <a:p>
            <a:pPr algn="l">
              <a:defRPr sz="2800" b="1">
                <a:solidFill>
                  <a:srgbClr val="1A1A2E"/>
                </a:solidFill>
              </a:defRPr>
            </a:pPr>
            <a:r>
              <a:t>SCX-MLIP: Progress at the First Proving Ground</a:t>
            </a:r>
          </a:p>
        </p:txBody>
      </p:sp>
      <p:sp>
        <p:nvSpPr>
          <p:cNvPr id="4" name="Rounded Rectangle 3"/>
          <p:cNvSpPr/>
          <p:nvPr/>
        </p:nvSpPr>
        <p:spPr>
          <a:xfrm>
            <a:off x="457200" y="1371600"/>
            <a:ext cx="5486400" cy="484632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4937760" cy="365760"/>
          </a:xfrm>
          <a:prstGeom prst="rect">
            <a:avLst/>
          </a:prstGeom>
          <a:noFill/>
        </p:spPr>
        <p:txBody>
          <a:bodyPr wrap="square">
            <a:spAutoFit/>
          </a:bodyPr>
          <a:lstStyle/>
          <a:p>
            <a:pPr algn="l">
              <a:defRPr sz="1700" b="1">
                <a:solidFill>
                  <a:srgbClr val="1A1A2E"/>
                </a:solidFill>
              </a:defRPr>
            </a:pPr>
            <a:r>
              <a:t>Potential Side: Model B + Gauge Fixing</a:t>
            </a:r>
          </a:p>
        </p:txBody>
      </p:sp>
      <p:sp>
        <p:nvSpPr>
          <p:cNvPr id="6" name="TextBox 5"/>
          <p:cNvSpPr txBox="1"/>
          <p:nvPr/>
        </p:nvSpPr>
        <p:spPr>
          <a:xfrm>
            <a:off x="731520" y="1920240"/>
            <a:ext cx="4937760" cy="4114800"/>
          </a:xfrm>
          <a:prstGeom prst="rect">
            <a:avLst/>
          </a:prstGeom>
          <a:noFill/>
        </p:spPr>
        <p:txBody>
          <a:bodyPr wrap="square">
            <a:spAutoFit/>
          </a:bodyPr>
          <a:lstStyle/>
          <a:p>
            <a:pPr>
              <a:spcAft>
                <a:spcPts val="400"/>
              </a:spcAft>
              <a:defRPr sz="1200">
                <a:solidFill>
                  <a:srgbClr val="6B7280"/>
                </a:solidFill>
              </a:defRPr>
            </a:pPr>
            <a:r>
              <a:t>Single ACE (1196 params): Force RMSE 0.045 eV/A</a:t>
            </a:r>
          </a:p>
          <a:p>
            <a:pPr>
              <a:spcAft>
                <a:spcPts val="400"/>
              </a:spcAft>
              <a:defRPr sz="1200">
                <a:solidFill>
                  <a:srgbClr val="6B7280"/>
                </a:solidFill>
              </a:defRPr>
            </a:pPr>
          </a:p>
          <a:p>
            <a:pPr>
              <a:spcAft>
                <a:spcPts val="400"/>
              </a:spcAft>
              <a:defRPr sz="1200">
                <a:solidFill>
                  <a:srgbClr val="6B7280"/>
                </a:solidFill>
              </a:defRPr>
            </a:pPr>
            <a:r>
              <a:t>Model B shared+correction (1378 params):</a:t>
            </a:r>
          </a:p>
          <a:p>
            <a:pPr>
              <a:spcAft>
                <a:spcPts val="400"/>
              </a:spcAft>
              <a:defRPr sz="1200">
                <a:solidFill>
                  <a:srgbClr val="6B7280"/>
                </a:solidFill>
              </a:defRPr>
            </a:pPr>
            <a:r>
              <a:t>  E = sum[c0*Bi + c_Z*Bi + b_Z]</a:t>
            </a:r>
          </a:p>
          <a:p>
            <a:pPr>
              <a:spcAft>
                <a:spcPts val="400"/>
              </a:spcAft>
              <a:defRPr sz="1200">
                <a:solidFill>
                  <a:srgbClr val="6B7280"/>
                </a:solidFill>
              </a:defRPr>
            </a:pPr>
            <a:r>
              <a:t>  shared c0 + element correction c_Z</a:t>
            </a:r>
          </a:p>
          <a:p>
            <a:pPr>
              <a:spcAft>
                <a:spcPts val="400"/>
              </a:spcAft>
              <a:defRPr sz="1200">
                <a:solidFill>
                  <a:srgbClr val="6B7280"/>
                </a:solidFill>
              </a:defRPr>
            </a:pPr>
          </a:p>
          <a:p>
            <a:pPr>
              <a:spcAft>
                <a:spcPts val="400"/>
              </a:spcAft>
              <a:defRPr sz="1200">
                <a:solidFill>
                  <a:srgbClr val="6B7280"/>
                </a:solidFill>
              </a:defRPr>
            </a:pPr>
            <a:r>
              <a:t>Gauge Fixing: post-hoc projection</a:t>
            </a:r>
          </a:p>
          <a:p>
            <a:pPr>
              <a:spcAft>
                <a:spcPts val="400"/>
              </a:spcAft>
              <a:defRPr sz="1200">
                <a:solidFill>
                  <a:srgbClr val="6B7280"/>
                </a:solidFill>
              </a:defRPr>
            </a:pPr>
            <a:r>
              <a:t>  Train first, then project: c_Z -= g, c_0 += g</a:t>
            </a:r>
          </a:p>
          <a:p>
            <a:pPr>
              <a:spcAft>
                <a:spcPts val="400"/>
              </a:spcAft>
              <a:defRPr sz="1200">
                <a:solidFill>
                  <a:srgbClr val="6B7280"/>
                </a:solidFill>
              </a:defRPr>
            </a:pPr>
            <a:r>
              <a:t>  Violation = 4.6e-16 (machine zero)</a:t>
            </a:r>
          </a:p>
          <a:p>
            <a:pPr>
              <a:spcAft>
                <a:spcPts val="400"/>
              </a:spcAft>
              <a:defRPr sz="1200">
                <a:solidFill>
                  <a:srgbClr val="6B7280"/>
                </a:solidFill>
              </a:defRPr>
            </a:pPr>
            <a:r>
              <a:t>  Zero prediction change (math identity)</a:t>
            </a:r>
          </a:p>
          <a:p>
            <a:pPr>
              <a:spcAft>
                <a:spcPts val="400"/>
              </a:spcAft>
              <a:defRPr sz="1200">
                <a:solidFill>
                  <a:srgbClr val="6B7280"/>
                </a:solidFill>
              </a:defRPr>
            </a:pPr>
          </a:p>
          <a:p>
            <a:pPr>
              <a:spcAft>
                <a:spcPts val="400"/>
              </a:spcAft>
              <a:defRPr sz="1200">
                <a:solidFill>
                  <a:srgbClr val="6B7280"/>
                </a:solidFill>
              </a:defRPr>
            </a:pPr>
            <a:r>
              <a:t>Key: gauge fixing is for potential MERGING</a:t>
            </a:r>
          </a:p>
          <a:p>
            <a:pPr>
              <a:spcAft>
                <a:spcPts val="400"/>
              </a:spcAft>
              <a:defRPr sz="1200">
                <a:solidFill>
                  <a:srgbClr val="6B7280"/>
                </a:solidFill>
              </a:defRPr>
            </a:pPr>
            <a:r>
              <a:t>(AlN+GaN). For pure AlN alone, it adds no accuracy.</a:t>
            </a:r>
          </a:p>
        </p:txBody>
      </p:sp>
      <p:sp>
        <p:nvSpPr>
          <p:cNvPr id="7" name="Rounded Rectangle 6"/>
          <p:cNvSpPr/>
          <p:nvPr/>
        </p:nvSpPr>
        <p:spPr>
          <a:xfrm>
            <a:off x="6217920" y="1371600"/>
            <a:ext cx="5486400" cy="4846320"/>
          </a:xfrm>
          <a:prstGeom prst="roundRect">
            <a:avLst/>
          </a:prstGeom>
          <a:solidFill>
            <a:srgbClr val="DBE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463040"/>
            <a:ext cx="4937760" cy="365760"/>
          </a:xfrm>
          <a:prstGeom prst="rect">
            <a:avLst/>
          </a:prstGeom>
          <a:noFill/>
        </p:spPr>
        <p:txBody>
          <a:bodyPr wrap="square">
            <a:spAutoFit/>
          </a:bodyPr>
          <a:lstStyle/>
          <a:p>
            <a:pPr algn="l">
              <a:defRPr sz="1700" b="1">
                <a:solidFill>
                  <a:srgbClr val="1A1A2E"/>
                </a:solidFill>
              </a:defRPr>
            </a:pPr>
            <a:r>
              <a:t>SCX Side: Two-Layer Descriptor + Defense</a:t>
            </a:r>
          </a:p>
        </p:txBody>
      </p:sp>
      <p:sp>
        <p:nvSpPr>
          <p:cNvPr id="9" name="TextBox 8"/>
          <p:cNvSpPr txBox="1"/>
          <p:nvPr/>
        </p:nvSpPr>
        <p:spPr>
          <a:xfrm>
            <a:off x="6492240" y="1920240"/>
            <a:ext cx="4937760" cy="4114800"/>
          </a:xfrm>
          <a:prstGeom prst="rect">
            <a:avLst/>
          </a:prstGeom>
          <a:noFill/>
        </p:spPr>
        <p:txBody>
          <a:bodyPr wrap="square">
            <a:spAutoFit/>
          </a:bodyPr>
          <a:lstStyle/>
          <a:p>
            <a:pPr>
              <a:spcAft>
                <a:spcPts val="400"/>
              </a:spcAft>
              <a:defRPr sz="1200">
                <a:solidFill>
                  <a:srgbClr val="6B7280"/>
                </a:solidFill>
              </a:defRPr>
            </a:pPr>
            <a:r>
              <a:t>One-layer (12-dim MLIP encoder):</a:t>
            </a:r>
          </a:p>
          <a:p>
            <a:pPr>
              <a:spcAft>
                <a:spcPts val="400"/>
              </a:spcAft>
              <a:defRPr sz="1200">
                <a:solidFill>
                  <a:srgbClr val="6B7280"/>
                </a:solidFill>
              </a:defRPr>
            </a:pPr>
            <a:r>
              <a:t>  50% frames in one blob, Noise F1 = 0.253</a:t>
            </a:r>
          </a:p>
          <a:p>
            <a:pPr>
              <a:spcAft>
                <a:spcPts val="400"/>
              </a:spcAft>
              <a:defRPr sz="1200">
                <a:solidFill>
                  <a:srgbClr val="6B7280"/>
                </a:solidFill>
              </a:defRPr>
            </a:pPr>
          </a:p>
          <a:p>
            <a:pPr>
              <a:spcAft>
                <a:spcPts val="400"/>
              </a:spcAft>
              <a:defRPr sz="1200">
                <a:solidFill>
                  <a:srgbClr val="6B7280"/>
                </a:solidFill>
              </a:defRPr>
            </a:pPr>
            <a:r>
              <a:t>Two-layer (= L1 + ErrorDrivenEncoder):</a:t>
            </a:r>
          </a:p>
          <a:p>
            <a:pPr>
              <a:spcAft>
                <a:spcPts val="400"/>
              </a:spcAft>
              <a:defRPr sz="1200">
                <a:solidFill>
                  <a:srgbClr val="6B7280"/>
                </a:solidFill>
              </a:defRPr>
            </a:pPr>
            <a:r>
              <a:t>  L1 coarse -&gt; L2 error-subspace refinement</a:t>
            </a:r>
          </a:p>
          <a:p>
            <a:pPr>
              <a:spcAft>
                <a:spcPts val="400"/>
              </a:spcAft>
              <a:defRPr sz="1200">
                <a:solidFill>
                  <a:srgbClr val="6B7280"/>
                </a:solidFill>
              </a:defRPr>
            </a:pPr>
            <a:r>
              <a:t>  Noise F1: 0.253 -&gt; 0.585 (+131%)</a:t>
            </a:r>
          </a:p>
          <a:p>
            <a:pPr>
              <a:spcAft>
                <a:spcPts val="400"/>
              </a:spcAft>
              <a:defRPr sz="1200">
                <a:solidFill>
                  <a:srgbClr val="6B7280"/>
                </a:solidFill>
              </a:defRPr>
            </a:pPr>
            <a:r>
              <a:t>  Top-3 states capture 94.6% of noise frames</a:t>
            </a:r>
          </a:p>
          <a:p>
            <a:pPr>
              <a:spcAft>
                <a:spcPts val="400"/>
              </a:spcAft>
              <a:defRPr sz="1200">
                <a:solidFill>
                  <a:srgbClr val="6B7280"/>
                </a:solidFill>
              </a:defRPr>
            </a:pPr>
            <a:r>
              <a:t>  Phonon 120 frames 100% isolated (low-error)</a:t>
            </a:r>
          </a:p>
          <a:p>
            <a:pPr>
              <a:spcAft>
                <a:spcPts val="400"/>
              </a:spcAft>
              <a:defRPr sz="1200">
                <a:solidFill>
                  <a:srgbClr val="6B7280"/>
                </a:solidFill>
              </a:defRPr>
            </a:pPr>
          </a:p>
          <a:p>
            <a:pPr>
              <a:spcAft>
                <a:spcPts val="400"/>
              </a:spcAft>
              <a:defRPr sz="1200">
                <a:solidFill>
                  <a:srgbClr val="6B7280"/>
                </a:solidFill>
              </a:defRPr>
            </a:pPr>
            <a:r>
              <a:t>Data Poisoning Defense:</a:t>
            </a:r>
          </a:p>
          <a:p>
            <a:pPr>
              <a:spcAft>
                <a:spcPts val="400"/>
              </a:spcAft>
              <a:defRPr sz="1200">
                <a:solidFill>
                  <a:srgbClr val="6B7280"/>
                </a:solidFill>
              </a:defRPr>
            </a:pPr>
            <a:r>
              <a:t>  Found ALL 74 high-noise frames (no prior knowledge)</a:t>
            </a:r>
          </a:p>
          <a:p>
            <a:pPr>
              <a:spcAft>
                <a:spcPts val="400"/>
              </a:spcAft>
              <a:defRPr sz="1200">
                <a:solidFill>
                  <a:srgbClr val="6B7280"/>
                </a:solidFill>
              </a:defRPr>
            </a:pPr>
            <a:r>
              <a:t>  Train fmax vs test error: r = 0.966</a:t>
            </a:r>
          </a:p>
          <a:p>
            <a:pPr>
              <a:spcAft>
                <a:spcPts val="400"/>
              </a:spcAft>
              <a:defRPr sz="1200">
                <a:solidFill>
                  <a:srgbClr val="6B7280"/>
                </a:solidFill>
              </a:defRPr>
            </a:pPr>
            <a:r>
              <a:t>  Est. force RMSE improvement: 29-48%</a:t>
            </a:r>
          </a:p>
        </p:txBody>
      </p:sp>
      <p:sp>
        <p:nvSpPr>
          <p:cNvPr id="10" name="Rectangle 9"/>
          <p:cNvSpPr/>
          <p:nvPr/>
        </p:nvSpPr>
        <p:spPr>
          <a:xfrm>
            <a:off x="457200" y="6309360"/>
            <a:ext cx="3657600" cy="45720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327648"/>
            <a:ext cx="3291840" cy="365760"/>
          </a:xfrm>
          <a:prstGeom prst="rect">
            <a:avLst/>
          </a:prstGeom>
          <a:noFill/>
        </p:spPr>
        <p:txBody>
          <a:bodyPr wrap="square">
            <a:spAutoFit/>
          </a:bodyPr>
          <a:lstStyle/>
          <a:p>
            <a:pPr algn="l">
              <a:defRPr sz="1300" b="1">
                <a:solidFill>
                  <a:srgbClr val="FFFFFF"/>
                </a:solidFill>
              </a:defRPr>
            </a:pPr>
            <a:r>
              <a:t>534 frames -&gt; compress ~150 + remove 14 extreme</a:t>
            </a:r>
          </a:p>
        </p:txBody>
      </p:sp>
      <p:sp>
        <p:nvSpPr>
          <p:cNvPr id="12" name="Rectangle 11"/>
          <p:cNvSpPr/>
          <p:nvPr/>
        </p:nvSpPr>
        <p:spPr>
          <a:xfrm>
            <a:off x="4389120" y="6309360"/>
            <a:ext cx="3200400" cy="4572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6327648"/>
            <a:ext cx="2834640" cy="365760"/>
          </a:xfrm>
          <a:prstGeom prst="rect">
            <a:avLst/>
          </a:prstGeom>
          <a:noFill/>
        </p:spPr>
        <p:txBody>
          <a:bodyPr wrap="square">
            <a:spAutoFit/>
          </a:bodyPr>
          <a:lstStyle/>
          <a:p>
            <a:pPr algn="l">
              <a:defRPr sz="1300" b="1">
                <a:solidFill>
                  <a:srgbClr val="FFFFFF"/>
                </a:solidFill>
              </a:defRPr>
            </a:pPr>
            <a:r>
              <a:t>SCX 100% hits REPORT worst-12 frames</a:t>
            </a:r>
          </a:p>
        </p:txBody>
      </p:sp>
      <p:sp>
        <p:nvSpPr>
          <p:cNvPr id="14" name="Rectangle 13"/>
          <p:cNvSpPr/>
          <p:nvPr/>
        </p:nvSpPr>
        <p:spPr>
          <a:xfrm>
            <a:off x="7863840" y="6309360"/>
            <a:ext cx="3840480" cy="457200"/>
          </a:xfrm>
          <a:prstGeom prst="rect">
            <a:avLst/>
          </a:prstGeom>
          <a:solidFill>
            <a:srgbClr val="0D9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6327648"/>
            <a:ext cx="3474720" cy="365760"/>
          </a:xfrm>
          <a:prstGeom prst="rect">
            <a:avLst/>
          </a:prstGeom>
          <a:noFill/>
        </p:spPr>
        <p:txBody>
          <a:bodyPr wrap="square">
            <a:spAutoFit/>
          </a:bodyPr>
          <a:lstStyle/>
          <a:p>
            <a:pPr algn="l">
              <a:defRPr sz="1300" b="1">
                <a:solidFill>
                  <a:srgbClr val="FFFFFF"/>
                </a:solidFill>
              </a:defRPr>
            </a:pPr>
            <a:r>
              <a:t>Est. Force RMSE: 0.045 -&gt; 0.023-0.032 eV/A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640080"/>
          </a:xfrm>
          <a:prstGeom prst="rect">
            <a:avLst/>
          </a:prstGeom>
          <a:noFill/>
        </p:spPr>
        <p:txBody>
          <a:bodyPr wrap="square">
            <a:spAutoFit/>
          </a:bodyPr>
          <a:lstStyle/>
          <a:p>
            <a:pPr algn="l">
              <a:defRPr sz="2800" b="1">
                <a:solidFill>
                  <a:srgbClr val="1A1A2E"/>
                </a:solidFill>
              </a:defRPr>
            </a:pPr>
            <a:r>
              <a:t>From MLIP to Simulation: The Problem Structure is Identical</a:t>
            </a:r>
          </a:p>
        </p:txBody>
      </p:sp>
      <p:sp>
        <p:nvSpPr>
          <p:cNvPr id="4" name="TextBox 3"/>
          <p:cNvSpPr txBox="1"/>
          <p:nvPr/>
        </p:nvSpPr>
        <p:spPr>
          <a:xfrm>
            <a:off x="731520" y="1188720"/>
            <a:ext cx="10698480" cy="365760"/>
          </a:xfrm>
          <a:prstGeom prst="rect">
            <a:avLst/>
          </a:prstGeom>
          <a:noFill/>
        </p:spPr>
        <p:txBody>
          <a:bodyPr wrap="square">
            <a:spAutoFit/>
          </a:bodyPr>
          <a:lstStyle/>
          <a:p>
            <a:pPr algn="l">
              <a:defRPr sz="1500" b="0">
                <a:solidFill>
                  <a:srgbClr val="1A56DB"/>
                </a:solidFill>
              </a:defRPr>
            </a:pPr>
            <a:r>
              <a:t>Core mapping: State = region in parameter space | Expert = solvers at different fidelities | Data value = is high-fidelity worth it here?</a:t>
            </a:r>
          </a:p>
        </p:txBody>
      </p:sp>
      <p:sp>
        <p:nvSpPr>
          <p:cNvPr id="5" name="Rounded Rectangle 4"/>
          <p:cNvSpPr/>
          <p:nvPr/>
        </p:nvSpPr>
        <p:spPr>
          <a:xfrm>
            <a:off x="457200" y="1828800"/>
            <a:ext cx="3566160" cy="3657600"/>
          </a:xfrm>
          <a:prstGeom prst="roundRect">
            <a:avLst/>
          </a:prstGeom>
          <a:solidFill>
            <a:srgbClr val="DBE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920240"/>
            <a:ext cx="3200400" cy="365760"/>
          </a:xfrm>
          <a:prstGeom prst="rect">
            <a:avLst/>
          </a:prstGeom>
          <a:noFill/>
        </p:spPr>
        <p:txBody>
          <a:bodyPr wrap="square">
            <a:spAutoFit/>
          </a:bodyPr>
          <a:lstStyle/>
          <a:p>
            <a:pPr algn="l">
              <a:defRPr sz="1500" b="1">
                <a:solidFill>
                  <a:srgbClr val="1A1A2E"/>
                </a:solidFill>
              </a:defRPr>
            </a:pPr>
            <a:r>
              <a:t>MLIP [Verified]</a:t>
            </a:r>
          </a:p>
        </p:txBody>
      </p:sp>
      <p:sp>
        <p:nvSpPr>
          <p:cNvPr id="7" name="TextBox 6"/>
          <p:cNvSpPr txBox="1"/>
          <p:nvPr/>
        </p:nvSpPr>
        <p:spPr>
          <a:xfrm>
            <a:off x="640080" y="2377440"/>
            <a:ext cx="3200400" cy="2926080"/>
          </a:xfrm>
          <a:prstGeom prst="rect">
            <a:avLst/>
          </a:prstGeom>
          <a:noFill/>
        </p:spPr>
        <p:txBody>
          <a:bodyPr wrap="square">
            <a:spAutoFit/>
          </a:bodyPr>
          <a:lstStyle/>
          <a:p>
            <a:pPr>
              <a:spcAft>
                <a:spcPts val="400"/>
              </a:spcAft>
              <a:defRPr sz="1300">
                <a:solidFill>
                  <a:srgbClr val="1A1A2E"/>
                </a:solidFill>
              </a:defRPr>
            </a:pPr>
            <a:r>
              <a:t>State = atomic config space</a:t>
            </a:r>
          </a:p>
          <a:p>
            <a:pPr>
              <a:spcAft>
                <a:spcPts val="400"/>
              </a:spcAft>
              <a:defRPr sz="1300">
                <a:solidFill>
                  <a:srgbClr val="1A1A2E"/>
                </a:solidFill>
              </a:defRPr>
            </a:pPr>
            <a:r>
              <a:t>Expert = different potentials</a:t>
            </a:r>
          </a:p>
          <a:p>
            <a:pPr>
              <a:spcAft>
                <a:spcPts val="400"/>
              </a:spcAft>
              <a:defRPr sz="1300">
                <a:solidFill>
                  <a:srgbClr val="1A1A2E"/>
                </a:solidFill>
              </a:defRPr>
            </a:pPr>
            <a:r>
              <a:t>High-fidelity = DFT calculation</a:t>
            </a:r>
          </a:p>
          <a:p>
            <a:pPr>
              <a:spcAft>
                <a:spcPts val="400"/>
              </a:spcAft>
              <a:defRPr sz="1300">
                <a:solidFill>
                  <a:srgbClr val="1A1A2E"/>
                </a:solidFill>
              </a:defRPr>
            </a:pPr>
            <a:r>
              <a:t>Low-fidelity = empirical / ACE</a:t>
            </a:r>
          </a:p>
          <a:p>
            <a:pPr>
              <a:spcAft>
                <a:spcPts val="400"/>
              </a:spcAft>
              <a:defRPr sz="1300">
                <a:solidFill>
                  <a:srgbClr val="1A1A2E"/>
                </a:solidFill>
              </a:defRPr>
            </a:pPr>
            <a:r>
              <a:t>Noise = frames with anomalous fmax</a:t>
            </a:r>
          </a:p>
          <a:p>
            <a:pPr>
              <a:spcAft>
                <a:spcPts val="400"/>
              </a:spcAft>
              <a:defRPr sz="1300">
                <a:solidFill>
                  <a:srgbClr val="1A1A2E"/>
                </a:solidFill>
              </a:defRPr>
            </a:pPr>
            <a:r>
              <a:t>Redundancy = too many similar configs</a:t>
            </a:r>
          </a:p>
        </p:txBody>
      </p:sp>
      <p:sp>
        <p:nvSpPr>
          <p:cNvPr id="8" name="Rounded Rectangle 7"/>
          <p:cNvSpPr/>
          <p:nvPr/>
        </p:nvSpPr>
        <p:spPr>
          <a:xfrm>
            <a:off x="4297680" y="1828800"/>
            <a:ext cx="3566160" cy="365760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1920240"/>
            <a:ext cx="3200400" cy="365760"/>
          </a:xfrm>
          <a:prstGeom prst="rect">
            <a:avLst/>
          </a:prstGeom>
          <a:noFill/>
        </p:spPr>
        <p:txBody>
          <a:bodyPr wrap="square">
            <a:spAutoFit/>
          </a:bodyPr>
          <a:lstStyle/>
          <a:p>
            <a:pPr algn="l">
              <a:defRPr sz="1500" b="1">
                <a:solidFill>
                  <a:srgbClr val="1A1A2E"/>
                </a:solidFill>
              </a:defRPr>
            </a:pPr>
            <a:r>
              <a:t>FEM / Engineering Sim</a:t>
            </a:r>
          </a:p>
        </p:txBody>
      </p:sp>
      <p:sp>
        <p:nvSpPr>
          <p:cNvPr id="10" name="TextBox 9"/>
          <p:cNvSpPr txBox="1"/>
          <p:nvPr/>
        </p:nvSpPr>
        <p:spPr>
          <a:xfrm>
            <a:off x="4480560" y="2377440"/>
            <a:ext cx="3200400" cy="2926080"/>
          </a:xfrm>
          <a:prstGeom prst="rect">
            <a:avLst/>
          </a:prstGeom>
          <a:noFill/>
        </p:spPr>
        <p:txBody>
          <a:bodyPr wrap="square">
            <a:spAutoFit/>
          </a:bodyPr>
          <a:lstStyle/>
          <a:p>
            <a:pPr>
              <a:spcAft>
                <a:spcPts val="400"/>
              </a:spcAft>
              <a:defRPr sz="1300">
                <a:solidFill>
                  <a:srgbClr val="6B7280"/>
                </a:solidFill>
              </a:defRPr>
            </a:pPr>
            <a:r>
              <a:t>State = param space (load/BC)</a:t>
            </a:r>
          </a:p>
          <a:p>
            <a:pPr>
              <a:spcAft>
                <a:spcPts val="400"/>
              </a:spcAft>
              <a:defRPr sz="1300">
                <a:solidFill>
                  <a:srgbClr val="6B7280"/>
                </a:solidFill>
              </a:defRPr>
            </a:pPr>
            <a:r>
              <a:t>Expert = coarse/fine mesh solvers</a:t>
            </a:r>
          </a:p>
          <a:p>
            <a:pPr>
              <a:spcAft>
                <a:spcPts val="400"/>
              </a:spcAft>
              <a:defRPr sz="1300">
                <a:solidFill>
                  <a:srgbClr val="6B7280"/>
                </a:solidFill>
              </a:defRPr>
            </a:pPr>
            <a:r>
              <a:t>High-fidelity = fine-mesh FEM</a:t>
            </a:r>
          </a:p>
          <a:p>
            <a:pPr>
              <a:spcAft>
                <a:spcPts val="400"/>
              </a:spcAft>
              <a:defRPr sz="1300">
                <a:solidFill>
                  <a:srgbClr val="6B7280"/>
                </a:solidFill>
              </a:defRPr>
            </a:pPr>
            <a:r>
              <a:t>Low-fidelity = coarse / ROM</a:t>
            </a:r>
          </a:p>
          <a:p>
            <a:pPr>
              <a:spcAft>
                <a:spcPts val="400"/>
              </a:spcAft>
              <a:defRPr sz="1300">
                <a:solidFill>
                  <a:srgbClr val="6B7280"/>
                </a:solidFill>
              </a:defRPr>
            </a:pPr>
            <a:r>
              <a:t>Noise = divergence / non-convergence</a:t>
            </a:r>
          </a:p>
          <a:p>
            <a:pPr>
              <a:spcAft>
                <a:spcPts val="400"/>
              </a:spcAft>
              <a:defRPr sz="1300">
                <a:solidFill>
                  <a:srgbClr val="6B7280"/>
                </a:solidFill>
              </a:defRPr>
            </a:pPr>
            <a:r>
              <a:t>Redundancy = over-sampled param regions</a:t>
            </a:r>
          </a:p>
        </p:txBody>
      </p:sp>
      <p:sp>
        <p:nvSpPr>
          <p:cNvPr id="11" name="Rounded Rectangle 10"/>
          <p:cNvSpPr/>
          <p:nvPr/>
        </p:nvSpPr>
        <p:spPr>
          <a:xfrm>
            <a:off x="8138160" y="1828800"/>
            <a:ext cx="3566160" cy="365760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1920240"/>
            <a:ext cx="3200400" cy="365760"/>
          </a:xfrm>
          <a:prstGeom prst="rect">
            <a:avLst/>
          </a:prstGeom>
          <a:noFill/>
        </p:spPr>
        <p:txBody>
          <a:bodyPr wrap="square">
            <a:spAutoFit/>
          </a:bodyPr>
          <a:lstStyle/>
          <a:p>
            <a:pPr algn="l">
              <a:defRPr sz="1500" b="1">
                <a:solidFill>
                  <a:srgbClr val="1A1A2E"/>
                </a:solidFill>
              </a:defRPr>
            </a:pPr>
            <a:r>
              <a:t>Generic SCX-Sim</a:t>
            </a:r>
          </a:p>
        </p:txBody>
      </p:sp>
      <p:sp>
        <p:nvSpPr>
          <p:cNvPr id="13" name="TextBox 12"/>
          <p:cNvSpPr txBox="1"/>
          <p:nvPr/>
        </p:nvSpPr>
        <p:spPr>
          <a:xfrm>
            <a:off x="8321040" y="2377440"/>
            <a:ext cx="3200400" cy="2926080"/>
          </a:xfrm>
          <a:prstGeom prst="rect">
            <a:avLst/>
          </a:prstGeom>
          <a:noFill/>
        </p:spPr>
        <p:txBody>
          <a:bodyPr wrap="square">
            <a:spAutoFit/>
          </a:bodyPr>
          <a:lstStyle/>
          <a:p>
            <a:pPr>
              <a:spcAft>
                <a:spcPts val="400"/>
              </a:spcAft>
              <a:defRPr sz="1300">
                <a:solidFill>
                  <a:srgbClr val="6B7280"/>
                </a:solidFill>
              </a:defRPr>
            </a:pPr>
            <a:r>
              <a:t>State = simulation scenario params</a:t>
            </a:r>
          </a:p>
          <a:p>
            <a:pPr>
              <a:spcAft>
                <a:spcPts val="400"/>
              </a:spcAft>
              <a:defRPr sz="1300">
                <a:solidFill>
                  <a:srgbClr val="6B7280"/>
                </a:solidFill>
              </a:defRPr>
            </a:pPr>
            <a:r>
              <a:t>Expert = solver chain at each fidelity</a:t>
            </a:r>
          </a:p>
          <a:p>
            <a:pPr>
              <a:spcAft>
                <a:spcPts val="400"/>
              </a:spcAft>
              <a:defRPr sz="1300">
                <a:solidFill>
                  <a:srgbClr val="6B7280"/>
                </a:solidFill>
              </a:defRPr>
            </a:pPr>
            <a:r>
              <a:t>High-fidelity = experiment / high-acc</a:t>
            </a:r>
          </a:p>
          <a:p>
            <a:pPr>
              <a:spcAft>
                <a:spcPts val="400"/>
              </a:spcAft>
              <a:defRPr sz="1300">
                <a:solidFill>
                  <a:srgbClr val="6B7280"/>
                </a:solidFill>
              </a:defRPr>
            </a:pPr>
            <a:r>
              <a:t>Low-fidelity = surrogate / empirical</a:t>
            </a:r>
          </a:p>
          <a:p>
            <a:pPr>
              <a:spcAft>
                <a:spcPts val="400"/>
              </a:spcAft>
              <a:defRPr sz="1300">
                <a:solidFill>
                  <a:srgbClr val="6B7280"/>
                </a:solidFill>
              </a:defRPr>
            </a:pPr>
            <a:r>
              <a:t>Noise = convergence failure / anomaly</a:t>
            </a:r>
          </a:p>
          <a:p>
            <a:pPr>
              <a:spcAft>
                <a:spcPts val="400"/>
              </a:spcAft>
              <a:defRPr sz="1300">
                <a:solidFill>
                  <a:srgbClr val="6B7280"/>
                </a:solidFill>
              </a:defRPr>
            </a:pPr>
            <a:r>
              <a:t>Redundancy = over-sampled param space</a:t>
            </a:r>
          </a:p>
        </p:txBody>
      </p:sp>
      <p:sp>
        <p:nvSpPr>
          <p:cNvPr id="14" name="TextBox 13"/>
          <p:cNvSpPr txBox="1"/>
          <p:nvPr/>
        </p:nvSpPr>
        <p:spPr>
          <a:xfrm>
            <a:off x="731520" y="5852160"/>
            <a:ext cx="10698480" cy="731520"/>
          </a:xfrm>
          <a:prstGeom prst="rect">
            <a:avLst/>
          </a:prstGeom>
          <a:noFill/>
        </p:spPr>
        <p:txBody>
          <a:bodyPr wrap="square">
            <a:spAutoFit/>
          </a:bodyPr>
          <a:lstStyle/>
          <a:p>
            <a:pPr algn="l">
              <a:defRPr sz="1500" b="0">
                <a:solidFill>
                  <a:srgbClr val="1A1A2E"/>
                </a:solidFill>
              </a:defRPr>
            </a:pPr>
            <a:r>
              <a:t>Patterns discovered in MLIP (noise in extreme regions, redundancy in low-error regions, expert divergence in specific states) also hold in FEM and engineering simulation.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640080"/>
          </a:xfrm>
          <a:prstGeom prst="rect">
            <a:avLst/>
          </a:prstGeom>
          <a:noFill/>
        </p:spPr>
        <p:txBody>
          <a:bodyPr wrap="square">
            <a:spAutoFit/>
          </a:bodyPr>
          <a:lstStyle/>
          <a:p>
            <a:pPr algn="l">
              <a:defRPr sz="2800" b="1">
                <a:solidFill>
                  <a:srgbClr val="1A1A2E"/>
                </a:solidFill>
              </a:defRPr>
            </a:pPr>
            <a:r>
              <a:t>SCX General Workflow: Five-Stage Closed Loop</a:t>
            </a:r>
          </a:p>
        </p:txBody>
      </p:sp>
      <p:sp>
        <p:nvSpPr>
          <p:cNvPr id="4" name="Rounded Rectangle 3"/>
          <p:cNvSpPr/>
          <p:nvPr/>
        </p:nvSpPr>
        <p:spPr>
          <a:xfrm>
            <a:off x="274320" y="1463040"/>
            <a:ext cx="2103120" cy="2743200"/>
          </a:xfrm>
          <a:prstGeom prst="roundRect">
            <a:avLst/>
          </a:prstGeom>
          <a:solidFill>
            <a:srgbClr val="FFFFFF"/>
          </a:solidFill>
          <a:ln w="12700">
            <a:solidFill>
              <a:srgbClr val="1A56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463040"/>
            <a:ext cx="2103120" cy="50292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490472"/>
            <a:ext cx="1920240" cy="457200"/>
          </a:xfrm>
          <a:prstGeom prst="rect">
            <a:avLst/>
          </a:prstGeom>
          <a:noFill/>
        </p:spPr>
        <p:txBody>
          <a:bodyPr wrap="square">
            <a:spAutoFit/>
          </a:bodyPr>
          <a:lstStyle/>
          <a:p>
            <a:pPr algn="l">
              <a:defRPr sz="1800" b="1">
                <a:solidFill>
                  <a:srgbClr val="FFFFFF"/>
                </a:solidFill>
              </a:defRPr>
            </a:pPr>
            <a:r>
              <a:t>1. Encode</a:t>
            </a:r>
          </a:p>
        </p:txBody>
      </p:sp>
      <p:sp>
        <p:nvSpPr>
          <p:cNvPr id="7" name="TextBox 6"/>
          <p:cNvSpPr txBox="1"/>
          <p:nvPr/>
        </p:nvSpPr>
        <p:spPr>
          <a:xfrm>
            <a:off x="411479" y="2103120"/>
            <a:ext cx="1828800" cy="1920240"/>
          </a:xfrm>
          <a:prstGeom prst="rect">
            <a:avLst/>
          </a:prstGeom>
          <a:noFill/>
        </p:spPr>
        <p:txBody>
          <a:bodyPr wrap="square">
            <a:spAutoFit/>
          </a:bodyPr>
          <a:lstStyle/>
          <a:p>
            <a:pPr>
              <a:spcAft>
                <a:spcPts val="400"/>
              </a:spcAft>
              <a:defRPr sz="1200">
                <a:solidFill>
                  <a:srgbClr val="1A1A2E"/>
                </a:solidFill>
              </a:defRPr>
            </a:pPr>
            <a:r>
              <a:t>Data -&gt; Feature Vector</a:t>
            </a:r>
          </a:p>
          <a:p>
            <a:pPr>
              <a:spcAft>
                <a:spcPts val="400"/>
              </a:spcAft>
              <a:defRPr sz="1200">
                <a:solidFill>
                  <a:srgbClr val="1A1A2E"/>
                </a:solidFill>
              </a:defRPr>
            </a:pPr>
            <a:r>
              <a:t>(ACE/CNN/GNN/</a:t>
            </a:r>
          </a:p>
          <a:p>
            <a:pPr>
              <a:spcAft>
                <a:spcPts val="400"/>
              </a:spcAft>
              <a:defRPr sz="1200">
                <a:solidFill>
                  <a:srgbClr val="1A1A2E"/>
                </a:solidFill>
              </a:defRPr>
            </a:pPr>
            <a:r>
              <a:t>sim param vector)</a:t>
            </a:r>
          </a:p>
        </p:txBody>
      </p:sp>
      <p:sp>
        <p:nvSpPr>
          <p:cNvPr id="8" name="Right Arrow 7"/>
          <p:cNvSpPr/>
          <p:nvPr/>
        </p:nvSpPr>
        <p:spPr>
          <a:xfrm>
            <a:off x="2423160" y="2560320"/>
            <a:ext cx="201168" cy="365760"/>
          </a:xfrm>
          <a:prstGeom prst="rightArrow">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651760" y="1463040"/>
            <a:ext cx="2103120" cy="2743200"/>
          </a:xfrm>
          <a:prstGeom prst="roundRect">
            <a:avLst/>
          </a:prstGeom>
          <a:solidFill>
            <a:srgbClr val="FFFFFF"/>
          </a:solidFill>
          <a:ln w="12700">
            <a:solidFill>
              <a:srgbClr val="25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651760" y="1463040"/>
            <a:ext cx="2103120" cy="502920"/>
          </a:xfrm>
          <a:prstGeom prst="rect">
            <a:avLst/>
          </a:prstGeom>
          <a:solidFill>
            <a:srgbClr val="2569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0" y="1490472"/>
            <a:ext cx="1920240" cy="457200"/>
          </a:xfrm>
          <a:prstGeom prst="rect">
            <a:avLst/>
          </a:prstGeom>
          <a:noFill/>
        </p:spPr>
        <p:txBody>
          <a:bodyPr wrap="square">
            <a:spAutoFit/>
          </a:bodyPr>
          <a:lstStyle/>
          <a:p>
            <a:pPr algn="l">
              <a:defRPr sz="1800" b="1">
                <a:solidFill>
                  <a:srgbClr val="FFFFFF"/>
                </a:solidFill>
              </a:defRPr>
            </a:pPr>
            <a:r>
              <a:t>2. Map</a:t>
            </a:r>
          </a:p>
        </p:txBody>
      </p:sp>
      <p:sp>
        <p:nvSpPr>
          <p:cNvPr id="12" name="TextBox 11"/>
          <p:cNvSpPr txBox="1"/>
          <p:nvPr/>
        </p:nvSpPr>
        <p:spPr>
          <a:xfrm>
            <a:off x="2788920" y="2103120"/>
            <a:ext cx="1828800" cy="1920240"/>
          </a:xfrm>
          <a:prstGeom prst="rect">
            <a:avLst/>
          </a:prstGeom>
          <a:noFill/>
        </p:spPr>
        <p:txBody>
          <a:bodyPr wrap="square">
            <a:spAutoFit/>
          </a:bodyPr>
          <a:lstStyle/>
          <a:p>
            <a:pPr>
              <a:spcAft>
                <a:spcPts val="400"/>
              </a:spcAft>
              <a:defRPr sz="1200">
                <a:solidFill>
                  <a:srgbClr val="1A1A2E"/>
                </a:solidFill>
              </a:defRPr>
            </a:pPr>
            <a:r>
              <a:t>Cluster -&gt; State Map</a:t>
            </a:r>
          </a:p>
          <a:p>
            <a:pPr>
              <a:spcAft>
                <a:spcPts val="400"/>
              </a:spcAft>
              <a:defRPr sz="1200">
                <a:solidFill>
                  <a:srgbClr val="1A1A2E"/>
                </a:solidFill>
              </a:defRPr>
            </a:pPr>
            <a:r>
              <a:t>(KMeans/Spectral/</a:t>
            </a:r>
          </a:p>
          <a:p>
            <a:pPr>
              <a:spcAft>
                <a:spcPts val="400"/>
              </a:spcAft>
              <a:defRPr sz="1200">
                <a:solidFill>
                  <a:srgbClr val="1A1A2E"/>
                </a:solidFill>
              </a:defRPr>
            </a:pPr>
            <a:r>
              <a:t>error-driven clustering)</a:t>
            </a:r>
          </a:p>
        </p:txBody>
      </p:sp>
      <p:sp>
        <p:nvSpPr>
          <p:cNvPr id="13" name="Right Arrow 12"/>
          <p:cNvSpPr/>
          <p:nvPr/>
        </p:nvSpPr>
        <p:spPr>
          <a:xfrm>
            <a:off x="4800600" y="2560320"/>
            <a:ext cx="201168" cy="365760"/>
          </a:xfrm>
          <a:prstGeom prst="rightArrow">
            <a:avLst/>
          </a:prstGeom>
          <a:solidFill>
            <a:srgbClr val="2569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29200" y="1463040"/>
            <a:ext cx="2103120" cy="2743200"/>
          </a:xfrm>
          <a:prstGeom prst="roundRect">
            <a:avLst/>
          </a:prstGeom>
          <a:solidFill>
            <a:srgbClr val="FFFFFF"/>
          </a:solidFill>
          <a:ln w="12700">
            <a:solidFill>
              <a:srgbClr val="0D9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0" y="1463040"/>
            <a:ext cx="2103120" cy="502920"/>
          </a:xfrm>
          <a:prstGeom prst="rect">
            <a:avLst/>
          </a:prstGeom>
          <a:solidFill>
            <a:srgbClr val="0D9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20640" y="1490472"/>
            <a:ext cx="1920240" cy="457200"/>
          </a:xfrm>
          <a:prstGeom prst="rect">
            <a:avLst/>
          </a:prstGeom>
          <a:noFill/>
        </p:spPr>
        <p:txBody>
          <a:bodyPr wrap="square">
            <a:spAutoFit/>
          </a:bodyPr>
          <a:lstStyle/>
          <a:p>
            <a:pPr algn="l">
              <a:defRPr sz="1800" b="1">
                <a:solidFill>
                  <a:srgbClr val="FFFFFF"/>
                </a:solidFill>
              </a:defRPr>
            </a:pPr>
            <a:r>
              <a:t>3. Evaluate</a:t>
            </a:r>
          </a:p>
        </p:txBody>
      </p:sp>
      <p:sp>
        <p:nvSpPr>
          <p:cNvPr id="17" name="TextBox 16"/>
          <p:cNvSpPr txBox="1"/>
          <p:nvPr/>
        </p:nvSpPr>
        <p:spPr>
          <a:xfrm>
            <a:off x="5166360" y="2103120"/>
            <a:ext cx="1828800" cy="1920240"/>
          </a:xfrm>
          <a:prstGeom prst="rect">
            <a:avLst/>
          </a:prstGeom>
          <a:noFill/>
        </p:spPr>
        <p:txBody>
          <a:bodyPr wrap="square">
            <a:spAutoFit/>
          </a:bodyPr>
          <a:lstStyle/>
          <a:p>
            <a:pPr>
              <a:spcAft>
                <a:spcPts val="400"/>
              </a:spcAft>
              <a:defRPr sz="1200">
                <a:solidFill>
                  <a:srgbClr val="1A1A2E"/>
                </a:solidFill>
              </a:defRPr>
            </a:pPr>
            <a:r>
              <a:t>4-Dimension Scoring</a:t>
            </a:r>
          </a:p>
          <a:p>
            <a:pPr>
              <a:spcAft>
                <a:spcPts val="400"/>
              </a:spcAft>
              <a:defRPr sz="1200">
                <a:solidFill>
                  <a:srgbClr val="1A1A2E"/>
                </a:solidFill>
              </a:defRPr>
            </a:pPr>
            <a:r>
              <a:t>Quality/Redundancy/</a:t>
            </a:r>
          </a:p>
          <a:p>
            <a:pPr>
              <a:spcAft>
                <a:spcPts val="400"/>
              </a:spcAft>
              <a:defRPr sz="1200">
                <a:solidFill>
                  <a:srgbClr val="1A1A2E"/>
                </a:solidFill>
              </a:defRPr>
            </a:pPr>
            <a:r>
              <a:t>Noise/Expert Reliability</a:t>
            </a:r>
          </a:p>
        </p:txBody>
      </p:sp>
      <p:sp>
        <p:nvSpPr>
          <p:cNvPr id="18" name="Right Arrow 17"/>
          <p:cNvSpPr/>
          <p:nvPr/>
        </p:nvSpPr>
        <p:spPr>
          <a:xfrm>
            <a:off x="7178040" y="2560320"/>
            <a:ext cx="201168" cy="365760"/>
          </a:xfrm>
          <a:prstGeom prst="rightArrow">
            <a:avLst/>
          </a:prstGeom>
          <a:solidFill>
            <a:srgbClr val="0D9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06640" y="1463040"/>
            <a:ext cx="2103120" cy="2743200"/>
          </a:xfrm>
          <a:prstGeom prst="roundRect">
            <a:avLst/>
          </a:prstGeom>
          <a:solidFill>
            <a:srgbClr val="FFFFFF"/>
          </a:solidFill>
          <a:ln w="12700">
            <a:solidFill>
              <a:srgbClr val="E6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06640" y="1463040"/>
            <a:ext cx="2103120" cy="502920"/>
          </a:xfrm>
          <a:prstGeom prst="rect">
            <a:avLst/>
          </a:prstGeom>
          <a:solidFill>
            <a:srgbClr val="E6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0" y="1490472"/>
            <a:ext cx="1920240" cy="457200"/>
          </a:xfrm>
          <a:prstGeom prst="rect">
            <a:avLst/>
          </a:prstGeom>
          <a:noFill/>
        </p:spPr>
        <p:txBody>
          <a:bodyPr wrap="square">
            <a:spAutoFit/>
          </a:bodyPr>
          <a:lstStyle/>
          <a:p>
            <a:pPr algn="l">
              <a:defRPr sz="1800" b="1">
                <a:solidFill>
                  <a:srgbClr val="FFFFFF"/>
                </a:solidFill>
              </a:defRPr>
            </a:pPr>
            <a:r>
              <a:t>4. Decide</a:t>
            </a:r>
          </a:p>
        </p:txBody>
      </p:sp>
      <p:sp>
        <p:nvSpPr>
          <p:cNvPr id="22" name="TextBox 21"/>
          <p:cNvSpPr txBox="1"/>
          <p:nvPr/>
        </p:nvSpPr>
        <p:spPr>
          <a:xfrm>
            <a:off x="7543800" y="2103120"/>
            <a:ext cx="1828800" cy="1920240"/>
          </a:xfrm>
          <a:prstGeom prst="rect">
            <a:avLst/>
          </a:prstGeom>
          <a:noFill/>
        </p:spPr>
        <p:txBody>
          <a:bodyPr wrap="square">
            <a:spAutoFit/>
          </a:bodyPr>
          <a:lstStyle/>
          <a:p>
            <a:pPr>
              <a:spcAft>
                <a:spcPts val="400"/>
              </a:spcAft>
              <a:defRPr sz="1200">
                <a:solidFill>
                  <a:srgbClr val="1A1A2E"/>
                </a:solidFill>
              </a:defRPr>
            </a:pPr>
            <a:r>
              <a:t>Action Selection</a:t>
            </a:r>
          </a:p>
          <a:p>
            <a:pPr>
              <a:spcAft>
                <a:spcPts val="400"/>
              </a:spcAft>
              <a:defRPr sz="1200">
                <a:solidFill>
                  <a:srgbClr val="1A1A2E"/>
                </a:solidFill>
              </a:defRPr>
            </a:pPr>
            <a:r>
              <a:t>Acquire/Compress/</a:t>
            </a:r>
          </a:p>
          <a:p>
            <a:pPr>
              <a:spcAft>
                <a:spcPts val="400"/>
              </a:spcAft>
              <a:defRPr sz="1200">
                <a:solidFill>
                  <a:srgbClr val="1A1A2E"/>
                </a:solidFill>
              </a:defRPr>
            </a:pPr>
            <a:r>
              <a:t>Relabel/Route/Discard</a:t>
            </a:r>
          </a:p>
        </p:txBody>
      </p:sp>
      <p:sp>
        <p:nvSpPr>
          <p:cNvPr id="23" name="Right Arrow 22"/>
          <p:cNvSpPr/>
          <p:nvPr/>
        </p:nvSpPr>
        <p:spPr>
          <a:xfrm>
            <a:off x="9555480" y="2560320"/>
            <a:ext cx="201168" cy="365760"/>
          </a:xfrm>
          <a:prstGeom prst="rightArrow">
            <a:avLst/>
          </a:prstGeom>
          <a:solidFill>
            <a:srgbClr val="E6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784080" y="1463040"/>
            <a:ext cx="2103120" cy="2743200"/>
          </a:xfrm>
          <a:prstGeom prst="roundRect">
            <a:avLst/>
          </a:prstGeom>
          <a:solidFill>
            <a:srgbClr val="FFFF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784080" y="1463040"/>
            <a:ext cx="2103120" cy="5029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75520" y="1490472"/>
            <a:ext cx="1920240" cy="457200"/>
          </a:xfrm>
          <a:prstGeom prst="rect">
            <a:avLst/>
          </a:prstGeom>
          <a:noFill/>
        </p:spPr>
        <p:txBody>
          <a:bodyPr wrap="square">
            <a:spAutoFit/>
          </a:bodyPr>
          <a:lstStyle/>
          <a:p>
            <a:pPr algn="l">
              <a:defRPr sz="1800" b="1">
                <a:solidFill>
                  <a:srgbClr val="FFFFFF"/>
                </a:solidFill>
              </a:defRPr>
            </a:pPr>
            <a:r>
              <a:t>5. Feedback</a:t>
            </a:r>
          </a:p>
        </p:txBody>
      </p:sp>
      <p:sp>
        <p:nvSpPr>
          <p:cNvPr id="27" name="TextBox 26"/>
          <p:cNvSpPr txBox="1"/>
          <p:nvPr/>
        </p:nvSpPr>
        <p:spPr>
          <a:xfrm>
            <a:off x="9921240" y="2103120"/>
            <a:ext cx="1828800" cy="1920240"/>
          </a:xfrm>
          <a:prstGeom prst="rect">
            <a:avLst/>
          </a:prstGeom>
          <a:noFill/>
        </p:spPr>
        <p:txBody>
          <a:bodyPr wrap="square">
            <a:spAutoFit/>
          </a:bodyPr>
          <a:lstStyle/>
          <a:p>
            <a:pPr>
              <a:spcAft>
                <a:spcPts val="400"/>
              </a:spcAft>
              <a:defRPr sz="1200">
                <a:solidFill>
                  <a:srgbClr val="1A1A2E"/>
                </a:solidFill>
              </a:defRPr>
            </a:pPr>
            <a:r>
              <a:t>Real Results Return</a:t>
            </a:r>
          </a:p>
          <a:p>
            <a:pPr>
              <a:spcAft>
                <a:spcPts val="400"/>
              </a:spcAft>
              <a:defRPr sz="1200">
                <a:solidFill>
                  <a:srgbClr val="1A1A2E"/>
                </a:solidFill>
              </a:defRPr>
            </a:pPr>
            <a:r>
              <a:t>Recalibrate Thresholds</a:t>
            </a:r>
          </a:p>
          <a:p>
            <a:pPr>
              <a:spcAft>
                <a:spcPts val="400"/>
              </a:spcAft>
              <a:defRPr sz="1200">
                <a:solidFill>
                  <a:srgbClr val="1A1A2E"/>
                </a:solidFill>
              </a:defRPr>
            </a:pPr>
            <a:r>
              <a:t>Continuous Update</a:t>
            </a:r>
          </a:p>
        </p:txBody>
      </p:sp>
      <p:sp>
        <p:nvSpPr>
          <p:cNvPr id="28" name="TextBox 27"/>
          <p:cNvSpPr txBox="1"/>
          <p:nvPr/>
        </p:nvSpPr>
        <p:spPr>
          <a:xfrm>
            <a:off x="731520" y="4572000"/>
            <a:ext cx="10698480" cy="365760"/>
          </a:xfrm>
          <a:prstGeom prst="rect">
            <a:avLst/>
          </a:prstGeom>
          <a:noFill/>
        </p:spPr>
        <p:txBody>
          <a:bodyPr wrap="square">
            <a:spAutoFit/>
          </a:bodyPr>
          <a:lstStyle/>
          <a:p>
            <a:pPr algn="l">
              <a:defRPr sz="1400" b="0">
                <a:solidFill>
                  <a:srgbClr val="6B7280"/>
                </a:solidFill>
              </a:defRPr>
            </a:pPr>
            <a:r>
              <a:t>Feedback loop: Stage 5 results -&gt; recalibrate Stage 3 thresholds -&gt; continuous improvement</a:t>
            </a:r>
          </a:p>
        </p:txBody>
      </p:sp>
      <p:sp>
        <p:nvSpPr>
          <p:cNvPr id="29" name="Rounded Rectangle 28"/>
          <p:cNvSpPr/>
          <p:nvPr/>
        </p:nvSpPr>
        <p:spPr>
          <a:xfrm>
            <a:off x="457200" y="5120640"/>
            <a:ext cx="11247120" cy="155448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5212080"/>
            <a:ext cx="10698480" cy="365760"/>
          </a:xfrm>
          <a:prstGeom prst="rect">
            <a:avLst/>
          </a:prstGeom>
          <a:noFill/>
        </p:spPr>
        <p:txBody>
          <a:bodyPr wrap="square">
            <a:spAutoFit/>
          </a:bodyPr>
          <a:lstStyle/>
          <a:p>
            <a:pPr algn="l">
              <a:defRPr sz="1600" b="1">
                <a:solidFill>
                  <a:srgbClr val="1A1A2E"/>
                </a:solidFill>
              </a:defRPr>
            </a:pPr>
            <a:r>
              <a:t>Two-Layer Descriptor (Key Innovation)</a:t>
            </a:r>
          </a:p>
        </p:txBody>
      </p:sp>
      <p:sp>
        <p:nvSpPr>
          <p:cNvPr id="31" name="TextBox 30"/>
          <p:cNvSpPr txBox="1"/>
          <p:nvPr/>
        </p:nvSpPr>
        <p:spPr>
          <a:xfrm>
            <a:off x="731520" y="5577840"/>
            <a:ext cx="5029200" cy="914400"/>
          </a:xfrm>
          <a:prstGeom prst="rect">
            <a:avLst/>
          </a:prstGeom>
          <a:noFill/>
        </p:spPr>
        <p:txBody>
          <a:bodyPr wrap="square">
            <a:spAutoFit/>
          </a:bodyPr>
          <a:lstStyle/>
          <a:p>
            <a:pPr>
              <a:spcAft>
                <a:spcPts val="400"/>
              </a:spcAft>
              <a:defRPr sz="1200">
                <a:solidFill>
                  <a:srgbClr val="6B7280"/>
                </a:solidFill>
              </a:defRPr>
            </a:pPr>
            <a:r>
              <a:t>Layer 1 (Human Domain Knowledge): Manual descriptors -&gt; coarse clustering</a:t>
            </a:r>
          </a:p>
          <a:p>
            <a:pPr>
              <a:spcAft>
                <a:spcPts val="400"/>
              </a:spcAft>
              <a:defRPr sz="1200">
                <a:solidFill>
                  <a:srgbClr val="6B7280"/>
                </a:solidFill>
              </a:defRPr>
            </a:pPr>
            <a:r>
              <a:t>  MLIP: coord_num, bond_len, volume...</a:t>
            </a:r>
          </a:p>
          <a:p>
            <a:pPr>
              <a:spcAft>
                <a:spcPts val="400"/>
              </a:spcAft>
              <a:defRPr sz="1200">
                <a:solidFill>
                  <a:srgbClr val="6B7280"/>
                </a:solidFill>
              </a:defRPr>
            </a:pPr>
            <a:r>
              <a:t>  Simulation: Re, Ma, load range, geometry params...</a:t>
            </a:r>
          </a:p>
        </p:txBody>
      </p:sp>
      <p:sp>
        <p:nvSpPr>
          <p:cNvPr id="32" name="TextBox 31"/>
          <p:cNvSpPr txBox="1"/>
          <p:nvPr/>
        </p:nvSpPr>
        <p:spPr>
          <a:xfrm>
            <a:off x="6217920" y="5577840"/>
            <a:ext cx="5029200" cy="914400"/>
          </a:xfrm>
          <a:prstGeom prst="rect">
            <a:avLst/>
          </a:prstGeom>
          <a:noFill/>
        </p:spPr>
        <p:txBody>
          <a:bodyPr wrap="square">
            <a:spAutoFit/>
          </a:bodyPr>
          <a:lstStyle/>
          <a:p>
            <a:pPr>
              <a:spcAft>
                <a:spcPts val="400"/>
              </a:spcAft>
              <a:defRPr sz="1200">
                <a:solidFill>
                  <a:srgbClr val="1A56DB"/>
                </a:solidFill>
              </a:defRPr>
            </a:pPr>
            <a:r>
              <a:t>Layer 2 (Algorithm-Discovered): Error-driven feature selection -&gt; refinement</a:t>
            </a:r>
          </a:p>
          <a:p>
            <a:pPr>
              <a:spcAft>
                <a:spcPts val="400"/>
              </a:spcAft>
              <a:defRPr sz="1200">
                <a:solidFill>
                  <a:srgbClr val="1A56DB"/>
                </a:solidFill>
              </a:defRPr>
            </a:pPr>
            <a:r>
              <a:t>  Mutual info screening of error-correlated dimensions</a:t>
            </a:r>
          </a:p>
          <a:p>
            <a:pPr>
              <a:spcAft>
                <a:spcPts val="400"/>
              </a:spcAft>
              <a:defRPr sz="1200">
                <a:solidFill>
                  <a:srgbClr val="1A56DB"/>
                </a:solidFill>
              </a:defRPr>
            </a:pPr>
            <a:r>
              <a:t>  Cluster ONLY in error-correlated subspace</a:t>
            </a:r>
          </a:p>
          <a:p>
            <a:pPr>
              <a:spcAft>
                <a:spcPts val="400"/>
              </a:spcAft>
              <a:defRPr sz="1200">
                <a:solidFill>
                  <a:srgbClr val="1A56DB"/>
                </a:solidFill>
              </a:defRPr>
            </a:pPr>
            <a:r>
              <a:t>  Auto-discover noise/value/redundant sub-states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640080"/>
          </a:xfrm>
          <a:prstGeom prst="rect">
            <a:avLst/>
          </a:prstGeom>
          <a:noFill/>
        </p:spPr>
        <p:txBody>
          <a:bodyPr wrap="square">
            <a:spAutoFit/>
          </a:bodyPr>
          <a:lstStyle/>
          <a:p>
            <a:pPr algn="l">
              <a:defRPr sz="2800" b="1">
                <a:solidFill>
                  <a:srgbClr val="1A1A2E"/>
                </a:solidFill>
              </a:defRPr>
            </a:pPr>
            <a:r>
              <a:t>Potential Applications: Same Problem Structure Across Domains</a:t>
            </a:r>
          </a:p>
        </p:txBody>
      </p:sp>
      <p:sp>
        <p:nvSpPr>
          <p:cNvPr id="4" name="TextBox 3"/>
          <p:cNvSpPr txBox="1"/>
          <p:nvPr/>
        </p:nvSpPr>
        <p:spPr>
          <a:xfrm>
            <a:off x="731520" y="1097280"/>
            <a:ext cx="10698480" cy="365760"/>
          </a:xfrm>
          <a:prstGeom prst="rect">
            <a:avLst/>
          </a:prstGeom>
          <a:noFill/>
        </p:spPr>
        <p:txBody>
          <a:bodyPr wrap="square">
            <a:spAutoFit/>
          </a:bodyPr>
          <a:lstStyle/>
          <a:p>
            <a:pPr algn="l">
              <a:defRPr sz="1600" b="0">
                <a:solidFill>
                  <a:srgbClr val="1A56DB"/>
                </a:solidFill>
              </a:defRPr>
            </a:pPr>
            <a:r>
              <a:t>Universal question: Given the current state s, is this data / model trustworthy?</a:t>
            </a:r>
          </a:p>
        </p:txBody>
      </p:sp>
      <p:sp>
        <p:nvSpPr>
          <p:cNvPr id="5" name="Rectangle 4"/>
          <p:cNvSpPr/>
          <p:nvPr/>
        </p:nvSpPr>
        <p:spPr>
          <a:xfrm>
            <a:off x="457200" y="1645920"/>
            <a:ext cx="64008" cy="566928"/>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64208"/>
            <a:ext cx="3200400" cy="502920"/>
          </a:xfrm>
          <a:prstGeom prst="rect">
            <a:avLst/>
          </a:prstGeom>
          <a:noFill/>
        </p:spPr>
        <p:txBody>
          <a:bodyPr wrap="square">
            <a:spAutoFit/>
          </a:bodyPr>
          <a:lstStyle/>
          <a:p>
            <a:pPr algn="l">
              <a:defRPr sz="1500" b="1">
                <a:solidFill>
                  <a:srgbClr val="1A1A2E"/>
                </a:solidFill>
              </a:defRPr>
            </a:pPr>
            <a:r>
              <a:t>Materials/DFT/MLIP [Verified]</a:t>
            </a:r>
          </a:p>
        </p:txBody>
      </p:sp>
      <p:sp>
        <p:nvSpPr>
          <p:cNvPr id="7" name="TextBox 6"/>
          <p:cNvSpPr txBox="1"/>
          <p:nvPr/>
        </p:nvSpPr>
        <p:spPr>
          <a:xfrm>
            <a:off x="4114800" y="1664208"/>
            <a:ext cx="7589520" cy="502920"/>
          </a:xfrm>
          <a:prstGeom prst="rect">
            <a:avLst/>
          </a:prstGeom>
          <a:noFill/>
        </p:spPr>
        <p:txBody>
          <a:bodyPr wrap="square">
            <a:spAutoFit/>
          </a:bodyPr>
          <a:lstStyle/>
          <a:p>
            <a:pPr algn="l">
              <a:defRPr sz="1400" b="0">
                <a:solidFill>
                  <a:srgbClr val="6B7280"/>
                </a:solidFill>
              </a:defRPr>
            </a:pPr>
            <a:r>
              <a:t>Potential selection, data quality screening, training set compression</a:t>
            </a:r>
          </a:p>
        </p:txBody>
      </p:sp>
      <p:sp>
        <p:nvSpPr>
          <p:cNvPr id="8" name="Rectangle 7"/>
          <p:cNvSpPr/>
          <p:nvPr/>
        </p:nvSpPr>
        <p:spPr>
          <a:xfrm>
            <a:off x="457200" y="2395728"/>
            <a:ext cx="64008" cy="566928"/>
          </a:xfrm>
          <a:prstGeom prst="rect">
            <a:avLst/>
          </a:prstGeom>
          <a:solidFill>
            <a:srgbClr val="0D9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414016"/>
            <a:ext cx="3200400" cy="502920"/>
          </a:xfrm>
          <a:prstGeom prst="rect">
            <a:avLst/>
          </a:prstGeom>
          <a:noFill/>
        </p:spPr>
        <p:txBody>
          <a:bodyPr wrap="square">
            <a:spAutoFit/>
          </a:bodyPr>
          <a:lstStyle/>
          <a:p>
            <a:pPr algn="l">
              <a:defRPr sz="1500" b="1">
                <a:solidFill>
                  <a:srgbClr val="1A1A2E"/>
                </a:solidFill>
              </a:defRPr>
            </a:pPr>
            <a:r>
              <a:t>FEM / Engineering Simulation</a:t>
            </a:r>
          </a:p>
        </p:txBody>
      </p:sp>
      <p:sp>
        <p:nvSpPr>
          <p:cNvPr id="10" name="TextBox 9"/>
          <p:cNvSpPr txBox="1"/>
          <p:nvPr/>
        </p:nvSpPr>
        <p:spPr>
          <a:xfrm>
            <a:off x="4114800" y="2414016"/>
            <a:ext cx="7589520" cy="502920"/>
          </a:xfrm>
          <a:prstGeom prst="rect">
            <a:avLst/>
          </a:prstGeom>
          <a:noFill/>
        </p:spPr>
        <p:txBody>
          <a:bodyPr wrap="square">
            <a:spAutoFit/>
          </a:bodyPr>
          <a:lstStyle/>
          <a:p>
            <a:pPr algn="l">
              <a:defRPr sz="1400" b="0">
                <a:solidFill>
                  <a:srgbClr val="6B7280"/>
                </a:solidFill>
              </a:defRPr>
            </a:pPr>
            <a:r>
              <a:t>Coarse/fine mesh switching, simulation point redundancy, numerical anomaly detection</a:t>
            </a:r>
          </a:p>
        </p:txBody>
      </p:sp>
      <p:sp>
        <p:nvSpPr>
          <p:cNvPr id="11" name="Rectangle 10"/>
          <p:cNvSpPr/>
          <p:nvPr/>
        </p:nvSpPr>
        <p:spPr>
          <a:xfrm>
            <a:off x="457200" y="3145536"/>
            <a:ext cx="64008" cy="566928"/>
          </a:xfrm>
          <a:prstGeom prst="rect">
            <a:avLst/>
          </a:prstGeom>
          <a:solidFill>
            <a:srgbClr val="2569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163824"/>
            <a:ext cx="3200400" cy="502920"/>
          </a:xfrm>
          <a:prstGeom prst="rect">
            <a:avLst/>
          </a:prstGeom>
          <a:noFill/>
        </p:spPr>
        <p:txBody>
          <a:bodyPr wrap="square">
            <a:spAutoFit/>
          </a:bodyPr>
          <a:lstStyle/>
          <a:p>
            <a:pPr algn="l">
              <a:defRPr sz="1500" b="1">
                <a:solidFill>
                  <a:srgbClr val="1A1A2E"/>
                </a:solidFill>
              </a:defRPr>
            </a:pPr>
            <a:r>
              <a:t>Manufacturing Online Monitoring</a:t>
            </a:r>
          </a:p>
        </p:txBody>
      </p:sp>
      <p:sp>
        <p:nvSpPr>
          <p:cNvPr id="13" name="TextBox 12"/>
          <p:cNvSpPr txBox="1"/>
          <p:nvPr/>
        </p:nvSpPr>
        <p:spPr>
          <a:xfrm>
            <a:off x="4114800" y="3163824"/>
            <a:ext cx="7589520" cy="502920"/>
          </a:xfrm>
          <a:prstGeom prst="rect">
            <a:avLst/>
          </a:prstGeom>
          <a:noFill/>
        </p:spPr>
        <p:txBody>
          <a:bodyPr wrap="square">
            <a:spAutoFit/>
          </a:bodyPr>
          <a:lstStyle/>
          <a:p>
            <a:pPr algn="l">
              <a:defRPr sz="1400" b="0">
                <a:solidFill>
                  <a:srgbClr val="6B7280"/>
                </a:solidFill>
              </a:defRPr>
            </a:pPr>
            <a:r>
              <a:t>Sensor data QC, anomaly detection (non-statistical), multi-model routing</a:t>
            </a:r>
          </a:p>
        </p:txBody>
      </p:sp>
      <p:sp>
        <p:nvSpPr>
          <p:cNvPr id="14" name="Rectangle 13"/>
          <p:cNvSpPr/>
          <p:nvPr/>
        </p:nvSpPr>
        <p:spPr>
          <a:xfrm>
            <a:off x="457200" y="3895344"/>
            <a:ext cx="64008" cy="566928"/>
          </a:xfrm>
          <a:prstGeom prst="rect">
            <a:avLst/>
          </a:prstGeom>
          <a:solidFill>
            <a:srgbClr val="E6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913631"/>
            <a:ext cx="3200400" cy="502920"/>
          </a:xfrm>
          <a:prstGeom prst="rect">
            <a:avLst/>
          </a:prstGeom>
          <a:noFill/>
        </p:spPr>
        <p:txBody>
          <a:bodyPr wrap="square">
            <a:spAutoFit/>
          </a:bodyPr>
          <a:lstStyle/>
          <a:p>
            <a:pPr algn="l">
              <a:defRPr sz="1500" b="1">
                <a:solidFill>
                  <a:srgbClr val="1A1A2E"/>
                </a:solidFill>
              </a:defRPr>
            </a:pPr>
            <a:r>
              <a:t>Medical Image Quality Control</a:t>
            </a:r>
          </a:p>
        </p:txBody>
      </p:sp>
      <p:sp>
        <p:nvSpPr>
          <p:cNvPr id="16" name="TextBox 15"/>
          <p:cNvSpPr txBox="1"/>
          <p:nvPr/>
        </p:nvSpPr>
        <p:spPr>
          <a:xfrm>
            <a:off x="4114800" y="3913631"/>
            <a:ext cx="7589520" cy="502920"/>
          </a:xfrm>
          <a:prstGeom prst="rect">
            <a:avLst/>
          </a:prstGeom>
          <a:noFill/>
        </p:spPr>
        <p:txBody>
          <a:bodyPr wrap="square">
            <a:spAutoFit/>
          </a:bodyPr>
          <a:lstStyle/>
          <a:p>
            <a:pPr algn="l">
              <a:defRPr sz="1400" b="0">
                <a:solidFill>
                  <a:srgbClr val="6B7280"/>
                </a:solidFill>
              </a:defRPr>
            </a:pPr>
            <a:r>
              <a:t>Annotation quality, hard-case vs label-error separation, redundant slice filtering</a:t>
            </a:r>
          </a:p>
        </p:txBody>
      </p:sp>
      <p:sp>
        <p:nvSpPr>
          <p:cNvPr id="17" name="Rectangle 16"/>
          <p:cNvSpPr/>
          <p:nvPr/>
        </p:nvSpPr>
        <p:spPr>
          <a:xfrm>
            <a:off x="457200" y="4645152"/>
            <a:ext cx="64008" cy="5669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663440"/>
            <a:ext cx="3200400" cy="502920"/>
          </a:xfrm>
          <a:prstGeom prst="rect">
            <a:avLst/>
          </a:prstGeom>
          <a:noFill/>
        </p:spPr>
        <p:txBody>
          <a:bodyPr wrap="square">
            <a:spAutoFit/>
          </a:bodyPr>
          <a:lstStyle/>
          <a:p>
            <a:pPr algn="l">
              <a:defRPr sz="1500" b="1">
                <a:solidFill>
                  <a:srgbClr val="1A1A2E"/>
                </a:solidFill>
              </a:defRPr>
            </a:pPr>
            <a:r>
              <a:t>Robot Trajectory Data</a:t>
            </a:r>
          </a:p>
        </p:txBody>
      </p:sp>
      <p:sp>
        <p:nvSpPr>
          <p:cNvPr id="19" name="TextBox 18"/>
          <p:cNvSpPr txBox="1"/>
          <p:nvPr/>
        </p:nvSpPr>
        <p:spPr>
          <a:xfrm>
            <a:off x="4114800" y="4663440"/>
            <a:ext cx="7589520" cy="502920"/>
          </a:xfrm>
          <a:prstGeom prst="rect">
            <a:avLst/>
          </a:prstGeom>
          <a:noFill/>
        </p:spPr>
        <p:txBody>
          <a:bodyPr wrap="square">
            <a:spAutoFit/>
          </a:bodyPr>
          <a:lstStyle/>
          <a:p>
            <a:pPr algn="l">
              <a:defRPr sz="1400" b="0">
                <a:solidFill>
                  <a:srgbClr val="6B7280"/>
                </a:solidFill>
              </a:defRPr>
            </a:pPr>
            <a:r>
              <a:t>Sim trajectory quality, sim-to-real scenario selection, multi-controller routing</a:t>
            </a:r>
          </a:p>
        </p:txBody>
      </p:sp>
      <p:sp>
        <p:nvSpPr>
          <p:cNvPr id="20" name="Rectangle 19"/>
          <p:cNvSpPr/>
          <p:nvPr/>
        </p:nvSpPr>
        <p:spPr>
          <a:xfrm>
            <a:off x="457200" y="5394959"/>
            <a:ext cx="64008" cy="566928"/>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413247"/>
            <a:ext cx="3200400" cy="502920"/>
          </a:xfrm>
          <a:prstGeom prst="rect">
            <a:avLst/>
          </a:prstGeom>
          <a:noFill/>
        </p:spPr>
        <p:txBody>
          <a:bodyPr wrap="square">
            <a:spAutoFit/>
          </a:bodyPr>
          <a:lstStyle/>
          <a:p>
            <a:pPr algn="l">
              <a:defRPr sz="1500" b="1">
                <a:solidFill>
                  <a:srgbClr val="1A1A2E"/>
                </a:solidFill>
              </a:defRPr>
            </a:pPr>
            <a:r>
              <a:t>Autonomous Driving Scenarios</a:t>
            </a:r>
          </a:p>
        </p:txBody>
      </p:sp>
      <p:sp>
        <p:nvSpPr>
          <p:cNvPr id="22" name="TextBox 21"/>
          <p:cNvSpPr txBox="1"/>
          <p:nvPr/>
        </p:nvSpPr>
        <p:spPr>
          <a:xfrm>
            <a:off x="4114800" y="5413247"/>
            <a:ext cx="7589520" cy="502920"/>
          </a:xfrm>
          <a:prstGeom prst="rect">
            <a:avLst/>
          </a:prstGeom>
          <a:noFill/>
        </p:spPr>
        <p:txBody>
          <a:bodyPr wrap="square">
            <a:spAutoFit/>
          </a:bodyPr>
          <a:lstStyle/>
          <a:p>
            <a:pPr algn="l">
              <a:defRPr sz="1400" b="0">
                <a:solidFill>
                  <a:srgbClr val="6B7280"/>
                </a:solidFill>
              </a:defRPr>
            </a:pPr>
            <a:r>
              <a:t>Corner case valuation, simulation scenario redundancy, multi-sensor fusion routing</a:t>
            </a:r>
          </a:p>
        </p:txBody>
      </p:sp>
      <p:sp>
        <p:nvSpPr>
          <p:cNvPr id="23" name="TextBox 22"/>
          <p:cNvSpPr txBox="1"/>
          <p:nvPr/>
        </p:nvSpPr>
        <p:spPr>
          <a:xfrm>
            <a:off x="731520" y="6309360"/>
            <a:ext cx="10698480" cy="365760"/>
          </a:xfrm>
          <a:prstGeom prst="rect">
            <a:avLst/>
          </a:prstGeom>
          <a:noFill/>
        </p:spPr>
        <p:txBody>
          <a:bodyPr wrap="square">
            <a:spAutoFit/>
          </a:bodyPr>
          <a:lstStyle/>
          <a:p>
            <a:pPr algn="l">
              <a:defRPr sz="1300" b="0">
                <a:solidFill>
                  <a:srgbClr val="DC2626"/>
                </a:solidFill>
              </a:defRPr>
            </a:pPr>
            <a:r>
              <a:t>Honest disclaimer: Except MLIP, all other directions are unverified. Listed to illustrate shared problem structure, not to claim solutions.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640080"/>
          </a:xfrm>
          <a:prstGeom prst="rect">
            <a:avLst/>
          </a:prstGeom>
          <a:noFill/>
        </p:spPr>
        <p:txBody>
          <a:bodyPr wrap="square">
            <a:spAutoFit/>
          </a:bodyPr>
          <a:lstStyle/>
          <a:p>
            <a:pPr algn="l">
              <a:defRPr sz="2800" b="1">
                <a:solidFill>
                  <a:srgbClr val="1A1A2E"/>
                </a:solidFill>
              </a:defRPr>
            </a:pPr>
            <a:r>
              <a:t>Why SCX Deserves Publication</a:t>
            </a:r>
          </a:p>
        </p:txBody>
      </p:sp>
      <p:sp>
        <p:nvSpPr>
          <p:cNvPr id="4" name="Rounded Rectangle 3"/>
          <p:cNvSpPr/>
          <p:nvPr/>
        </p:nvSpPr>
        <p:spPr>
          <a:xfrm>
            <a:off x="274320" y="1371600"/>
            <a:ext cx="2743200" cy="475488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371600"/>
            <a:ext cx="2743200" cy="73152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79" y="1389888"/>
            <a:ext cx="2468880" cy="365760"/>
          </a:xfrm>
          <a:prstGeom prst="rect">
            <a:avLst/>
          </a:prstGeom>
          <a:noFill/>
        </p:spPr>
        <p:txBody>
          <a:bodyPr wrap="square">
            <a:spAutoFit/>
          </a:bodyPr>
          <a:lstStyle/>
          <a:p>
            <a:pPr algn="l">
              <a:defRPr sz="1800" b="1">
                <a:solidFill>
                  <a:srgbClr val="FFFFFF"/>
                </a:solidFill>
              </a:defRPr>
            </a:pPr>
            <a:r>
              <a:t>Theory</a:t>
            </a:r>
          </a:p>
        </p:txBody>
      </p:sp>
      <p:sp>
        <p:nvSpPr>
          <p:cNvPr id="7" name="TextBox 6"/>
          <p:cNvSpPr txBox="1"/>
          <p:nvPr/>
        </p:nvSpPr>
        <p:spPr>
          <a:xfrm>
            <a:off x="411479" y="1755648"/>
            <a:ext cx="2468880" cy="274320"/>
          </a:xfrm>
          <a:prstGeom prst="rect">
            <a:avLst/>
          </a:prstGeom>
          <a:noFill/>
        </p:spPr>
        <p:txBody>
          <a:bodyPr wrap="square">
            <a:spAutoFit/>
          </a:bodyPr>
          <a:lstStyle/>
          <a:p>
            <a:pPr algn="l">
              <a:defRPr sz="1100" b="0">
                <a:solidFill>
                  <a:srgbClr val="FFFFFF"/>
                </a:solidFill>
              </a:defRPr>
            </a:pPr>
            <a:r>
              <a:t>Data value is</a:t>
            </a:r>
            <a:br/>
            <a:r>
              <a:t>state-conditioned</a:t>
            </a:r>
          </a:p>
        </p:txBody>
      </p:sp>
      <p:sp>
        <p:nvSpPr>
          <p:cNvPr id="8" name="TextBox 7"/>
          <p:cNvSpPr txBox="1"/>
          <p:nvPr/>
        </p:nvSpPr>
        <p:spPr>
          <a:xfrm>
            <a:off x="411479" y="2286000"/>
            <a:ext cx="2468880" cy="3657600"/>
          </a:xfrm>
          <a:prstGeom prst="rect">
            <a:avLst/>
          </a:prstGeom>
          <a:noFill/>
        </p:spPr>
        <p:txBody>
          <a:bodyPr wrap="square">
            <a:spAutoFit/>
          </a:bodyPr>
          <a:lstStyle/>
          <a:p>
            <a:pPr>
              <a:spcAft>
                <a:spcPts val="400"/>
              </a:spcAft>
              <a:defRPr sz="1200">
                <a:solidFill>
                  <a:srgbClr val="1A1A2E"/>
                </a:solidFill>
              </a:defRPr>
            </a:pPr>
            <a:r>
              <a:t>Not a global scalar, but a conditional probability</a:t>
            </a:r>
          </a:p>
          <a:p>
            <a:pPr>
              <a:spcAft>
                <a:spcPts val="400"/>
              </a:spcAft>
              <a:defRPr sz="1200">
                <a:solidFill>
                  <a:srgbClr val="1A1A2E"/>
                </a:solidFill>
              </a:defRPr>
            </a:pPr>
            <a:r>
              <a:t>Prop 1 (global ranking insufficiency) proven</a:t>
            </a:r>
          </a:p>
          <a:p>
            <a:pPr>
              <a:spcAft>
                <a:spcPts val="400"/>
              </a:spcAft>
              <a:defRPr sz="1200">
                <a:solidFill>
                  <a:srgbClr val="1A1A2E"/>
                </a:solidFill>
              </a:defRPr>
            </a:pPr>
            <a:r>
              <a:t>6 propositions: compress/routing/two-layer</a:t>
            </a:r>
          </a:p>
          <a:p>
            <a:pPr>
              <a:spcAft>
                <a:spcPts val="400"/>
              </a:spcAft>
              <a:defRPr sz="1200">
                <a:solidFill>
                  <a:srgbClr val="1A1A2E"/>
                </a:solidFill>
              </a:defRPr>
            </a:pPr>
            <a:r>
              <a:t>Redefines data value mathematically</a:t>
            </a:r>
          </a:p>
        </p:txBody>
      </p:sp>
      <p:sp>
        <p:nvSpPr>
          <p:cNvPr id="9" name="Rounded Rectangle 8"/>
          <p:cNvSpPr/>
          <p:nvPr/>
        </p:nvSpPr>
        <p:spPr>
          <a:xfrm>
            <a:off x="3246120" y="1371600"/>
            <a:ext cx="2743200" cy="475488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46120" y="1371600"/>
            <a:ext cx="2743200" cy="731520"/>
          </a:xfrm>
          <a:prstGeom prst="rect">
            <a:avLst/>
          </a:prstGeom>
          <a:solidFill>
            <a:srgbClr val="0D9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79" y="1389888"/>
            <a:ext cx="2468880" cy="365760"/>
          </a:xfrm>
          <a:prstGeom prst="rect">
            <a:avLst/>
          </a:prstGeom>
          <a:noFill/>
        </p:spPr>
        <p:txBody>
          <a:bodyPr wrap="square">
            <a:spAutoFit/>
          </a:bodyPr>
          <a:lstStyle/>
          <a:p>
            <a:pPr algn="l">
              <a:defRPr sz="1800" b="1">
                <a:solidFill>
                  <a:srgbClr val="FFFFFF"/>
                </a:solidFill>
              </a:defRPr>
            </a:pPr>
            <a:r>
              <a:t>Validation</a:t>
            </a:r>
          </a:p>
        </p:txBody>
      </p:sp>
      <p:sp>
        <p:nvSpPr>
          <p:cNvPr id="12" name="TextBox 11"/>
          <p:cNvSpPr txBox="1"/>
          <p:nvPr/>
        </p:nvSpPr>
        <p:spPr>
          <a:xfrm>
            <a:off x="3383279" y="1755648"/>
            <a:ext cx="2468880" cy="274320"/>
          </a:xfrm>
          <a:prstGeom prst="rect">
            <a:avLst/>
          </a:prstGeom>
          <a:noFill/>
        </p:spPr>
        <p:txBody>
          <a:bodyPr wrap="square">
            <a:spAutoFit/>
          </a:bodyPr>
          <a:lstStyle/>
          <a:p>
            <a:pPr algn="l">
              <a:defRPr sz="1100" b="0">
                <a:solidFill>
                  <a:srgbClr val="FFFFFF"/>
                </a:solidFill>
              </a:defRPr>
            </a:pPr>
            <a:r>
              <a:t>MLIP has</a:t>
            </a:r>
            <a:br/>
            <a:r>
              <a:t>quantitative evidence</a:t>
            </a:r>
          </a:p>
        </p:txBody>
      </p:sp>
      <p:sp>
        <p:nvSpPr>
          <p:cNvPr id="13" name="TextBox 12"/>
          <p:cNvSpPr txBox="1"/>
          <p:nvPr/>
        </p:nvSpPr>
        <p:spPr>
          <a:xfrm>
            <a:off x="3383279" y="2286000"/>
            <a:ext cx="2468880" cy="3657600"/>
          </a:xfrm>
          <a:prstGeom prst="rect">
            <a:avLst/>
          </a:prstGeom>
          <a:noFill/>
        </p:spPr>
        <p:txBody>
          <a:bodyPr wrap="square">
            <a:spAutoFit/>
          </a:bodyPr>
          <a:lstStyle/>
          <a:p>
            <a:pPr>
              <a:spcAft>
                <a:spcPts val="400"/>
              </a:spcAft>
              <a:defRPr sz="1200">
                <a:solidFill>
                  <a:srgbClr val="6B7280"/>
                </a:solidFill>
              </a:defRPr>
            </a:pPr>
            <a:r>
              <a:t>AlN v3: Noise F1=0.585, Top-3 captures 94.6%</a:t>
            </a:r>
          </a:p>
          <a:p>
            <a:pPr>
              <a:spcAft>
                <a:spcPts val="400"/>
              </a:spcAft>
              <a:defRPr sz="1200">
                <a:solidFill>
                  <a:srgbClr val="6B7280"/>
                </a:solidFill>
              </a:defRPr>
            </a:pPr>
            <a:r>
              <a:t>Data poisoning defense: 100% hit, r=0.966</a:t>
            </a:r>
          </a:p>
          <a:p>
            <a:pPr>
              <a:spcAft>
                <a:spcPts val="400"/>
              </a:spcAft>
              <a:defRPr sz="1200">
                <a:solidFill>
                  <a:srgbClr val="6B7280"/>
                </a:solidFill>
              </a:defRPr>
            </a:pPr>
            <a:r>
              <a:t>MedMNIST compress: +6% at 30% reduction</a:t>
            </a:r>
          </a:p>
          <a:p>
            <a:pPr>
              <a:spcAft>
                <a:spcPts val="400"/>
              </a:spcAft>
              <a:defRPr sz="1200">
                <a:solidFill>
                  <a:srgbClr val="6B7280"/>
                </a:solidFill>
              </a:defRPr>
            </a:pPr>
            <a:r>
              <a:t>MedMNIST routing: SCX &gt; ensemble</a:t>
            </a:r>
          </a:p>
        </p:txBody>
      </p:sp>
      <p:sp>
        <p:nvSpPr>
          <p:cNvPr id="14" name="Rounded Rectangle 13"/>
          <p:cNvSpPr/>
          <p:nvPr/>
        </p:nvSpPr>
        <p:spPr>
          <a:xfrm>
            <a:off x="6217920" y="1371600"/>
            <a:ext cx="2743200" cy="475488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371600"/>
            <a:ext cx="2743200" cy="731520"/>
          </a:xfrm>
          <a:prstGeom prst="rect">
            <a:avLst/>
          </a:prstGeom>
          <a:solidFill>
            <a:srgbClr val="E6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1389888"/>
            <a:ext cx="2468880" cy="365760"/>
          </a:xfrm>
          <a:prstGeom prst="rect">
            <a:avLst/>
          </a:prstGeom>
          <a:noFill/>
        </p:spPr>
        <p:txBody>
          <a:bodyPr wrap="square">
            <a:spAutoFit/>
          </a:bodyPr>
          <a:lstStyle/>
          <a:p>
            <a:pPr algn="l">
              <a:defRPr sz="1800" b="1">
                <a:solidFill>
                  <a:srgbClr val="FFFFFF"/>
                </a:solidFill>
              </a:defRPr>
            </a:pPr>
            <a:r>
              <a:t>Generality</a:t>
            </a:r>
          </a:p>
        </p:txBody>
      </p:sp>
      <p:sp>
        <p:nvSpPr>
          <p:cNvPr id="17" name="TextBox 16"/>
          <p:cNvSpPr txBox="1"/>
          <p:nvPr/>
        </p:nvSpPr>
        <p:spPr>
          <a:xfrm>
            <a:off x="6355080" y="1755648"/>
            <a:ext cx="2468880" cy="274320"/>
          </a:xfrm>
          <a:prstGeom prst="rect">
            <a:avLst/>
          </a:prstGeom>
          <a:noFill/>
        </p:spPr>
        <p:txBody>
          <a:bodyPr wrap="square">
            <a:spAutoFit/>
          </a:bodyPr>
          <a:lstStyle/>
          <a:p>
            <a:pPr algn="l">
              <a:defRPr sz="1100" b="0">
                <a:solidFill>
                  <a:srgbClr val="FFFFFF"/>
                </a:solidFill>
              </a:defRPr>
            </a:pPr>
            <a:r>
              <a:t>Not tied to</a:t>
            </a:r>
            <a:br/>
            <a:r>
              <a:t>any ML paradigm</a:t>
            </a:r>
          </a:p>
        </p:txBody>
      </p:sp>
      <p:sp>
        <p:nvSpPr>
          <p:cNvPr id="18" name="TextBox 17"/>
          <p:cNvSpPr txBox="1"/>
          <p:nvPr/>
        </p:nvSpPr>
        <p:spPr>
          <a:xfrm>
            <a:off x="6355080" y="2286000"/>
            <a:ext cx="2468880" cy="3657600"/>
          </a:xfrm>
          <a:prstGeom prst="rect">
            <a:avLst/>
          </a:prstGeom>
          <a:noFill/>
        </p:spPr>
        <p:txBody>
          <a:bodyPr wrap="square">
            <a:spAutoFit/>
          </a:bodyPr>
          <a:lstStyle/>
          <a:p>
            <a:pPr>
              <a:spcAft>
                <a:spcPts val="400"/>
              </a:spcAft>
              <a:defRPr sz="1200">
                <a:solidFill>
                  <a:srgbClr val="6B7280"/>
                </a:solidFill>
              </a:defRPr>
            </a:pPr>
            <a:r>
              <a:t>No dependency on model architecture</a:t>
            </a:r>
          </a:p>
          <a:p>
            <a:pPr>
              <a:spcAft>
                <a:spcPts val="400"/>
              </a:spcAft>
              <a:defRPr sz="1200">
                <a:solidFill>
                  <a:srgbClr val="6B7280"/>
                </a:solidFill>
              </a:defRPr>
            </a:pPr>
            <a:r>
              <a:t>No dependency on gradient/loss form</a:t>
            </a:r>
          </a:p>
          <a:p>
            <a:pPr>
              <a:spcAft>
                <a:spcPts val="400"/>
              </a:spcAft>
              <a:defRPr sz="1200">
                <a:solidFill>
                  <a:srgbClr val="6B7280"/>
                </a:solidFill>
              </a:defRPr>
            </a:pPr>
            <a:r>
              <a:t>Abstract base classes + YAML config</a:t>
            </a:r>
          </a:p>
          <a:p>
            <a:pPr>
              <a:spcAft>
                <a:spcPts val="400"/>
              </a:spcAft>
              <a:defRPr sz="1200">
                <a:solidFill>
                  <a:srgbClr val="6B7280"/>
                </a:solidFill>
              </a:defRPr>
            </a:pPr>
            <a:r>
              <a:t>New domain integration in 3 steps</a:t>
            </a:r>
          </a:p>
        </p:txBody>
      </p:sp>
      <p:sp>
        <p:nvSpPr>
          <p:cNvPr id="19" name="Rounded Rectangle 18"/>
          <p:cNvSpPr/>
          <p:nvPr/>
        </p:nvSpPr>
        <p:spPr>
          <a:xfrm>
            <a:off x="9189720" y="1371600"/>
            <a:ext cx="2743200" cy="475488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89720" y="1371600"/>
            <a:ext cx="2743200" cy="7315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80" y="1389888"/>
            <a:ext cx="2468880" cy="365760"/>
          </a:xfrm>
          <a:prstGeom prst="rect">
            <a:avLst/>
          </a:prstGeom>
          <a:noFill/>
        </p:spPr>
        <p:txBody>
          <a:bodyPr wrap="square">
            <a:spAutoFit/>
          </a:bodyPr>
          <a:lstStyle/>
          <a:p>
            <a:pPr algn="l">
              <a:defRPr sz="1800" b="1">
                <a:solidFill>
                  <a:srgbClr val="FFFFFF"/>
                </a:solidFill>
              </a:defRPr>
            </a:pPr>
            <a:r>
              <a:t>Practicality</a:t>
            </a:r>
          </a:p>
        </p:txBody>
      </p:sp>
      <p:sp>
        <p:nvSpPr>
          <p:cNvPr id="22" name="TextBox 21"/>
          <p:cNvSpPr txBox="1"/>
          <p:nvPr/>
        </p:nvSpPr>
        <p:spPr>
          <a:xfrm>
            <a:off x="9326880" y="1755648"/>
            <a:ext cx="2468880" cy="274320"/>
          </a:xfrm>
          <a:prstGeom prst="rect">
            <a:avLst/>
          </a:prstGeom>
          <a:noFill/>
        </p:spPr>
        <p:txBody>
          <a:bodyPr wrap="square">
            <a:spAutoFit/>
          </a:bodyPr>
          <a:lstStyle/>
          <a:p>
            <a:pPr algn="l">
              <a:defRPr sz="1100" b="0">
                <a:solidFill>
                  <a:srgbClr val="FFFFFF"/>
                </a:solidFill>
              </a:defRPr>
            </a:pPr>
            <a:r>
              <a:t>Directly answers</a:t>
            </a:r>
            <a:br/>
            <a:r>
              <a:t>is it worth the cost</a:t>
            </a:r>
          </a:p>
        </p:txBody>
      </p:sp>
      <p:sp>
        <p:nvSpPr>
          <p:cNvPr id="23" name="TextBox 22"/>
          <p:cNvSpPr txBox="1"/>
          <p:nvPr/>
        </p:nvSpPr>
        <p:spPr>
          <a:xfrm>
            <a:off x="9326880" y="2286000"/>
            <a:ext cx="2468880" cy="3657600"/>
          </a:xfrm>
          <a:prstGeom prst="rect">
            <a:avLst/>
          </a:prstGeom>
          <a:noFill/>
        </p:spPr>
        <p:txBody>
          <a:bodyPr wrap="square">
            <a:spAutoFit/>
          </a:bodyPr>
          <a:lstStyle/>
          <a:p>
            <a:pPr>
              <a:spcAft>
                <a:spcPts val="400"/>
              </a:spcAft>
              <a:defRPr sz="1200">
                <a:solidFill>
                  <a:srgbClr val="6B7280"/>
                </a:solidFill>
              </a:defRPr>
            </a:pPr>
            <a:r>
              <a:t>Data acquisition: which regions to invest</a:t>
            </a:r>
          </a:p>
          <a:p>
            <a:pPr>
              <a:spcAft>
                <a:spcPts val="400"/>
              </a:spcAft>
              <a:defRPr sz="1200">
                <a:solidFill>
                  <a:srgbClr val="6B7280"/>
                </a:solidFill>
              </a:defRPr>
            </a:pPr>
            <a:r>
              <a:t>Data cleaning: auto-discover noise</a:t>
            </a:r>
          </a:p>
          <a:p>
            <a:pPr>
              <a:spcAft>
                <a:spcPts val="400"/>
              </a:spcAft>
              <a:defRPr sz="1200">
                <a:solidFill>
                  <a:srgbClr val="6B7280"/>
                </a:solidFill>
              </a:defRPr>
            </a:pPr>
            <a:r>
              <a:t>Expert deployment: route to best model</a:t>
            </a:r>
          </a:p>
          <a:p>
            <a:pPr>
              <a:spcAft>
                <a:spcPts val="400"/>
              </a:spcAft>
              <a:defRPr sz="1200">
                <a:solidFill>
                  <a:srgbClr val="6B7280"/>
                </a:solidFill>
              </a:defRPr>
            </a:pPr>
            <a:r>
              <a:t>Cost optimization: compress, focus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640080"/>
          </a:xfrm>
          <a:prstGeom prst="rect">
            <a:avLst/>
          </a:prstGeom>
          <a:noFill/>
        </p:spPr>
        <p:txBody>
          <a:bodyPr wrap="square">
            <a:spAutoFit/>
          </a:bodyPr>
          <a:lstStyle/>
          <a:p>
            <a:pPr algn="l">
              <a:defRPr sz="2800" b="1">
                <a:solidFill>
                  <a:srgbClr val="1A1A2E"/>
                </a:solidFill>
              </a:defRPr>
            </a:pPr>
            <a:r>
              <a:t>Planned Two-Paper Sequence</a:t>
            </a:r>
          </a:p>
        </p:txBody>
      </p:sp>
      <p:sp>
        <p:nvSpPr>
          <p:cNvPr id="4" name="Rounded Rectangle 3"/>
          <p:cNvSpPr/>
          <p:nvPr/>
        </p:nvSpPr>
        <p:spPr>
          <a:xfrm>
            <a:off x="457200" y="1371600"/>
            <a:ext cx="5303520" cy="4114800"/>
          </a:xfrm>
          <a:prstGeom prst="roundRect">
            <a:avLst/>
          </a:prstGeom>
          <a:solidFill>
            <a:srgbClr val="DBE9FA"/>
          </a:solidFill>
          <a:ln w="12700">
            <a:solidFill>
              <a:srgbClr val="1A56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4754880" cy="457200"/>
          </a:xfrm>
          <a:prstGeom prst="rect">
            <a:avLst/>
          </a:prstGeom>
          <a:noFill/>
        </p:spPr>
        <p:txBody>
          <a:bodyPr wrap="square">
            <a:spAutoFit/>
          </a:bodyPr>
          <a:lstStyle/>
          <a:p>
            <a:pPr algn="l">
              <a:defRPr sz="2200" b="1">
                <a:solidFill>
                  <a:srgbClr val="1A56DB"/>
                </a:solidFill>
              </a:defRPr>
            </a:pPr>
            <a:r>
              <a:t>Paper 1: SCX-MLIP</a:t>
            </a:r>
          </a:p>
        </p:txBody>
      </p:sp>
      <p:sp>
        <p:nvSpPr>
          <p:cNvPr id="6" name="TextBox 5"/>
          <p:cNvSpPr txBox="1"/>
          <p:nvPr/>
        </p:nvSpPr>
        <p:spPr>
          <a:xfrm>
            <a:off x="731520" y="1920240"/>
            <a:ext cx="4754880" cy="365760"/>
          </a:xfrm>
          <a:prstGeom prst="rect">
            <a:avLst/>
          </a:prstGeom>
          <a:noFill/>
        </p:spPr>
        <p:txBody>
          <a:bodyPr wrap="square">
            <a:spAutoFit/>
          </a:bodyPr>
          <a:lstStyle/>
          <a:p>
            <a:pPr algn="l">
              <a:defRPr sz="1500" b="0">
                <a:solidFill>
                  <a:srgbClr val="1A1A2E"/>
                </a:solidFill>
              </a:defRPr>
            </a:pPr>
            <a:r>
              <a:t>Expert Potential Merging &amp; State-Conditioned Data Value</a:t>
            </a:r>
          </a:p>
        </p:txBody>
      </p:sp>
      <p:sp>
        <p:nvSpPr>
          <p:cNvPr id="7" name="TextBox 6"/>
          <p:cNvSpPr txBox="1"/>
          <p:nvPr/>
        </p:nvSpPr>
        <p:spPr>
          <a:xfrm>
            <a:off x="731520" y="2468880"/>
            <a:ext cx="4754880" cy="2743200"/>
          </a:xfrm>
          <a:prstGeom prst="rect">
            <a:avLst/>
          </a:prstGeom>
          <a:noFill/>
        </p:spPr>
        <p:txBody>
          <a:bodyPr wrap="square">
            <a:spAutoFit/>
          </a:bodyPr>
          <a:lstStyle/>
          <a:p>
            <a:pPr>
              <a:spcAft>
                <a:spcPts val="400"/>
              </a:spcAft>
              <a:defRPr sz="1300">
                <a:solidFill>
                  <a:srgbClr val="6B7280"/>
                </a:solidFill>
              </a:defRPr>
            </a:pPr>
            <a:r>
              <a:t>Contributions:</a:t>
            </a:r>
          </a:p>
          <a:p>
            <a:pPr>
              <a:spcAft>
                <a:spcPts val="400"/>
              </a:spcAft>
              <a:defRPr sz="1300">
                <a:solidFill>
                  <a:srgbClr val="6B7280"/>
                </a:solidFill>
              </a:defRPr>
            </a:pPr>
            <a:r>
              <a:t>- Model B shared+correction architecture</a:t>
            </a:r>
          </a:p>
          <a:p>
            <a:pPr>
              <a:spcAft>
                <a:spcPts val="400"/>
              </a:spcAft>
              <a:defRPr sz="1300">
                <a:solidFill>
                  <a:srgbClr val="6B7280"/>
                </a:solidFill>
              </a:defRPr>
            </a:pPr>
            <a:r>
              <a:t>- Post-hoc gauge fixing method</a:t>
            </a:r>
          </a:p>
          <a:p>
            <a:pPr>
              <a:spcAft>
                <a:spcPts val="400"/>
              </a:spcAft>
              <a:defRPr sz="1300">
                <a:solidFill>
                  <a:srgbClr val="6B7280"/>
                </a:solidFill>
              </a:defRPr>
            </a:pPr>
            <a:r>
              <a:t>- SCX two-layer noise/redundancy detection</a:t>
            </a:r>
          </a:p>
          <a:p>
            <a:pPr>
              <a:spcAft>
                <a:spcPts val="400"/>
              </a:spcAft>
              <a:defRPr sz="1300">
                <a:solidFill>
                  <a:srgbClr val="6B7280"/>
                </a:solidFill>
              </a:defRPr>
            </a:pPr>
            <a:r>
              <a:t>- Data poisoning defense</a:t>
            </a:r>
          </a:p>
          <a:p>
            <a:pPr>
              <a:spcAft>
                <a:spcPts val="400"/>
              </a:spcAft>
              <a:defRPr sz="1300">
                <a:solidFill>
                  <a:srgbClr val="6B7280"/>
                </a:solidFill>
              </a:defRPr>
            </a:pPr>
          </a:p>
          <a:p>
            <a:pPr>
              <a:spcAft>
                <a:spcPts val="400"/>
              </a:spcAft>
              <a:defRPr sz="1300">
                <a:solidFill>
                  <a:srgbClr val="6B7280"/>
                </a:solidFill>
              </a:defRPr>
            </a:pPr>
            <a:r>
              <a:t>Experiments:</a:t>
            </a:r>
          </a:p>
          <a:p>
            <a:pPr>
              <a:spcAft>
                <a:spcPts val="400"/>
              </a:spcAft>
              <a:defRPr sz="1300">
                <a:solidFill>
                  <a:srgbClr val="6B7280"/>
                </a:solidFill>
              </a:defRPr>
            </a:pPr>
            <a:r>
              <a:t>- AlN v3: 534 DFT frames, 689 clean labels</a:t>
            </a:r>
          </a:p>
          <a:p>
            <a:pPr>
              <a:spcAft>
                <a:spcPts val="400"/>
              </a:spcAft>
              <a:defRPr sz="1300">
                <a:solidFill>
                  <a:srgbClr val="6B7280"/>
                </a:solidFill>
              </a:defRPr>
            </a:pPr>
            <a:r>
              <a:t>- Single ACE vs Model B full comparison</a:t>
            </a:r>
          </a:p>
          <a:p>
            <a:pPr>
              <a:spcAft>
                <a:spcPts val="400"/>
              </a:spcAft>
              <a:defRPr sz="1300">
                <a:solidFill>
                  <a:srgbClr val="6B7280"/>
                </a:solidFill>
              </a:defRPr>
            </a:pPr>
            <a:r>
              <a:t>- SCX 100% noise hit rate verified</a:t>
            </a:r>
          </a:p>
          <a:p>
            <a:pPr>
              <a:spcAft>
                <a:spcPts val="400"/>
              </a:spcAft>
              <a:defRPr sz="1300">
                <a:solidFill>
                  <a:srgbClr val="6B7280"/>
                </a:solidFill>
              </a:defRPr>
            </a:pPr>
          </a:p>
          <a:p>
            <a:pPr>
              <a:spcAft>
                <a:spcPts val="400"/>
              </a:spcAft>
              <a:defRPr sz="1300">
                <a:solidFill>
                  <a:srgbClr val="6B7280"/>
                </a:solidFill>
              </a:defRPr>
            </a:pPr>
            <a:r>
              <a:t>Target: Nature Comp Sci / npj Comp Mater</a:t>
            </a:r>
          </a:p>
        </p:txBody>
      </p:sp>
      <p:sp>
        <p:nvSpPr>
          <p:cNvPr id="8" name="Rounded Rectangle 7"/>
          <p:cNvSpPr/>
          <p:nvPr/>
        </p:nvSpPr>
        <p:spPr>
          <a:xfrm>
            <a:off x="6217920" y="1371600"/>
            <a:ext cx="5303520" cy="4114800"/>
          </a:xfrm>
          <a:prstGeom prst="roundRect">
            <a:avLst/>
          </a:prstGeom>
          <a:solidFill>
            <a:srgbClr val="F0F2F5"/>
          </a:solidFill>
          <a:ln w="12700">
            <a:solidFill>
              <a:srgbClr val="0D9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463040"/>
            <a:ext cx="4754880" cy="457200"/>
          </a:xfrm>
          <a:prstGeom prst="rect">
            <a:avLst/>
          </a:prstGeom>
          <a:noFill/>
        </p:spPr>
        <p:txBody>
          <a:bodyPr wrap="square">
            <a:spAutoFit/>
          </a:bodyPr>
          <a:lstStyle/>
          <a:p>
            <a:pPr algn="l">
              <a:defRPr sz="2200" b="1">
                <a:solidFill>
                  <a:srgbClr val="0D948B"/>
                </a:solidFill>
              </a:defRPr>
            </a:pPr>
            <a:r>
              <a:t>Paper 2: SCX-Theory</a:t>
            </a:r>
          </a:p>
        </p:txBody>
      </p:sp>
      <p:sp>
        <p:nvSpPr>
          <p:cNvPr id="10" name="TextBox 9"/>
          <p:cNvSpPr txBox="1"/>
          <p:nvPr/>
        </p:nvSpPr>
        <p:spPr>
          <a:xfrm>
            <a:off x="6492240" y="1920240"/>
            <a:ext cx="4754880" cy="365760"/>
          </a:xfrm>
          <a:prstGeom prst="rect">
            <a:avLst/>
          </a:prstGeom>
          <a:noFill/>
        </p:spPr>
        <p:txBody>
          <a:bodyPr wrap="square">
            <a:spAutoFit/>
          </a:bodyPr>
          <a:lstStyle/>
          <a:p>
            <a:pPr algn="l">
              <a:defRPr sz="1500" b="0">
                <a:solidFill>
                  <a:srgbClr val="1A1A2E"/>
                </a:solidFill>
              </a:defRPr>
            </a:pPr>
            <a:r>
              <a:t>The Value of Data is State-Conditioned</a:t>
            </a:r>
          </a:p>
        </p:txBody>
      </p:sp>
      <p:sp>
        <p:nvSpPr>
          <p:cNvPr id="11" name="TextBox 10"/>
          <p:cNvSpPr txBox="1"/>
          <p:nvPr/>
        </p:nvSpPr>
        <p:spPr>
          <a:xfrm>
            <a:off x="6492240" y="2468880"/>
            <a:ext cx="4754880" cy="2743200"/>
          </a:xfrm>
          <a:prstGeom prst="rect">
            <a:avLst/>
          </a:prstGeom>
          <a:noFill/>
        </p:spPr>
        <p:txBody>
          <a:bodyPr wrap="square">
            <a:spAutoFit/>
          </a:bodyPr>
          <a:lstStyle/>
          <a:p>
            <a:pPr>
              <a:spcAft>
                <a:spcPts val="400"/>
              </a:spcAft>
              <a:defRPr sz="1300">
                <a:solidFill>
                  <a:srgbClr val="6B7280"/>
                </a:solidFill>
              </a:defRPr>
            </a:pPr>
            <a:r>
              <a:t>Contributions:</a:t>
            </a:r>
          </a:p>
          <a:p>
            <a:pPr>
              <a:spcAft>
                <a:spcPts val="400"/>
              </a:spcAft>
              <a:defRPr sz="1300">
                <a:solidFill>
                  <a:srgbClr val="6B7280"/>
                </a:solidFill>
              </a:defRPr>
            </a:pPr>
            <a:r>
              <a:t>- General mathematical framework (6 props)</a:t>
            </a:r>
          </a:p>
          <a:p>
            <a:pPr>
              <a:spcAft>
                <a:spcPts val="400"/>
              </a:spcAft>
              <a:defRPr sz="1300">
                <a:solidFill>
                  <a:srgbClr val="6B7280"/>
                </a:solidFill>
              </a:defRPr>
            </a:pPr>
            <a:r>
              <a:t>- Two-layer descriptor methodology</a:t>
            </a:r>
          </a:p>
          <a:p>
            <a:pPr>
              <a:spcAft>
                <a:spcPts val="400"/>
              </a:spcAft>
              <a:defRPr sz="1300">
                <a:solidFill>
                  <a:srgbClr val="6B7280"/>
                </a:solidFill>
              </a:defRPr>
            </a:pPr>
            <a:r>
              <a:t>- Data four-classification theory</a:t>
            </a:r>
          </a:p>
          <a:p>
            <a:pPr>
              <a:spcAft>
                <a:spcPts val="400"/>
              </a:spcAft>
              <a:defRPr sz="1300">
                <a:solidFill>
                  <a:srgbClr val="6B7280"/>
                </a:solidFill>
              </a:defRPr>
            </a:pPr>
            <a:r>
              <a:t>- State-conditioned expert routing</a:t>
            </a:r>
          </a:p>
          <a:p>
            <a:pPr>
              <a:spcAft>
                <a:spcPts val="400"/>
              </a:spcAft>
              <a:defRPr sz="1300">
                <a:solidFill>
                  <a:srgbClr val="6B7280"/>
                </a:solidFill>
              </a:defRPr>
            </a:pPr>
          </a:p>
          <a:p>
            <a:pPr>
              <a:spcAft>
                <a:spcPts val="400"/>
              </a:spcAft>
              <a:defRPr sz="1300">
                <a:solidFill>
                  <a:srgbClr val="6B7280"/>
                </a:solidFill>
              </a:defRPr>
            </a:pPr>
            <a:r>
              <a:t>Experiments:</a:t>
            </a:r>
          </a:p>
          <a:p>
            <a:pPr>
              <a:spcAft>
                <a:spcPts val="400"/>
              </a:spcAft>
              <a:defRPr sz="1300">
                <a:solidFill>
                  <a:srgbClr val="6B7280"/>
                </a:solidFill>
              </a:defRPr>
            </a:pPr>
            <a:r>
              <a:t>- MLIP (verified) + MedMNIST (verified)</a:t>
            </a:r>
          </a:p>
          <a:p>
            <a:pPr>
              <a:spcAft>
                <a:spcPts val="400"/>
              </a:spcAft>
              <a:defRPr sz="1300">
                <a:solidFill>
                  <a:srgbClr val="6B7280"/>
                </a:solidFill>
              </a:defRPr>
            </a:pPr>
            <a:r>
              <a:t>- Synthetic data benchmark</a:t>
            </a:r>
          </a:p>
          <a:p>
            <a:pPr>
              <a:spcAft>
                <a:spcPts val="400"/>
              </a:spcAft>
              <a:defRPr sz="1300">
                <a:solidFill>
                  <a:srgbClr val="6B7280"/>
                </a:solidFill>
              </a:defRPr>
            </a:pPr>
            <a:r>
              <a:t>- Planned: FEM simulation case study</a:t>
            </a:r>
          </a:p>
          <a:p>
            <a:pPr>
              <a:spcAft>
                <a:spcPts val="400"/>
              </a:spcAft>
              <a:defRPr sz="1300">
                <a:solidFill>
                  <a:srgbClr val="6B7280"/>
                </a:solidFill>
              </a:defRPr>
            </a:pPr>
          </a:p>
          <a:p>
            <a:pPr>
              <a:spcAft>
                <a:spcPts val="400"/>
              </a:spcAft>
              <a:defRPr sz="1300">
                <a:solidFill>
                  <a:srgbClr val="6B7280"/>
                </a:solidFill>
              </a:defRPr>
            </a:pPr>
            <a:r>
              <a:t>Target: TMLR / AISTATS</a:t>
            </a:r>
          </a:p>
        </p:txBody>
      </p:sp>
      <p:sp>
        <p:nvSpPr>
          <p:cNvPr id="12" name="TextBox 11"/>
          <p:cNvSpPr txBox="1"/>
          <p:nvPr/>
        </p:nvSpPr>
        <p:spPr>
          <a:xfrm>
            <a:off x="731520" y="5760720"/>
            <a:ext cx="10698480" cy="365760"/>
          </a:xfrm>
          <a:prstGeom prst="rect">
            <a:avLst/>
          </a:prstGeom>
          <a:noFill/>
        </p:spPr>
        <p:txBody>
          <a:bodyPr wrap="square">
            <a:spAutoFit/>
          </a:bodyPr>
          <a:lstStyle/>
          <a:p>
            <a:pPr algn="l">
              <a:defRPr sz="1800" b="1">
                <a:solidFill>
                  <a:srgbClr val="1A1A2E"/>
                </a:solidFill>
              </a:defRPr>
            </a:pPr>
            <a:r>
              <a:t>Timeline</a:t>
            </a:r>
          </a:p>
        </p:txBody>
      </p:sp>
      <p:sp>
        <p:nvSpPr>
          <p:cNvPr id="13" name="TextBox 12"/>
          <p:cNvSpPr txBox="1"/>
          <p:nvPr/>
        </p:nvSpPr>
        <p:spPr>
          <a:xfrm>
            <a:off x="731520" y="6126480"/>
            <a:ext cx="10698480" cy="457200"/>
          </a:xfrm>
          <a:prstGeom prst="rect">
            <a:avLst/>
          </a:prstGeom>
          <a:noFill/>
        </p:spPr>
        <p:txBody>
          <a:bodyPr wrap="square">
            <a:spAutoFit/>
          </a:bodyPr>
          <a:lstStyle/>
          <a:p>
            <a:pPr algn="l">
              <a:defRPr sz="1400" b="0">
                <a:solidFill>
                  <a:srgbClr val="6B7280"/>
                </a:solidFill>
              </a:defRPr>
            </a:pPr>
            <a:r>
              <a:t>Paper 1 can start now (complete data). Paper 2 needs FEM case + synthetic benchmark before submission.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1645920"/>
            <a:ext cx="10332720" cy="1097280"/>
          </a:xfrm>
          <a:prstGeom prst="rect">
            <a:avLst/>
          </a:prstGeom>
          <a:noFill/>
        </p:spPr>
        <p:txBody>
          <a:bodyPr wrap="square">
            <a:spAutoFit/>
          </a:bodyPr>
          <a:lstStyle/>
          <a:p>
            <a:pPr algn="ctr">
              <a:defRPr sz="3400" b="1">
                <a:solidFill>
                  <a:srgbClr val="1A1A2E"/>
                </a:solidFill>
              </a:defRPr>
            </a:pPr>
            <a:r>
              <a:t>SCX does not replace models. SCX does not replace experts.</a:t>
            </a:r>
          </a:p>
        </p:txBody>
      </p:sp>
      <p:sp>
        <p:nvSpPr>
          <p:cNvPr id="3" name="TextBox 2"/>
          <p:cNvSpPr txBox="1"/>
          <p:nvPr/>
        </p:nvSpPr>
        <p:spPr>
          <a:xfrm>
            <a:off x="914400" y="2926080"/>
            <a:ext cx="10332720" cy="731520"/>
          </a:xfrm>
          <a:prstGeom prst="rect">
            <a:avLst/>
          </a:prstGeom>
          <a:noFill/>
        </p:spPr>
        <p:txBody>
          <a:bodyPr wrap="square">
            <a:spAutoFit/>
          </a:bodyPr>
          <a:lstStyle/>
          <a:p>
            <a:pPr algn="ctr">
              <a:defRPr sz="2400" b="0">
                <a:solidFill>
                  <a:srgbClr val="6B7280"/>
                </a:solidFill>
              </a:defRPr>
            </a:pPr>
            <a:r>
              <a:t>SCX judges: in the current state,</a:t>
            </a:r>
          </a:p>
        </p:txBody>
      </p:sp>
      <p:sp>
        <p:nvSpPr>
          <p:cNvPr id="4" name="TextBox 3"/>
          <p:cNvSpPr txBox="1"/>
          <p:nvPr/>
        </p:nvSpPr>
        <p:spPr>
          <a:xfrm>
            <a:off x="914400" y="3657600"/>
            <a:ext cx="10332720" cy="914400"/>
          </a:xfrm>
          <a:prstGeom prst="rect">
            <a:avLst/>
          </a:prstGeom>
          <a:noFill/>
        </p:spPr>
        <p:txBody>
          <a:bodyPr wrap="square">
            <a:spAutoFit/>
          </a:bodyPr>
          <a:lstStyle/>
          <a:p>
            <a:pPr algn="ctr">
              <a:defRPr sz="2800" b="1">
                <a:solidFill>
                  <a:srgbClr val="1A56DB"/>
                </a:solidFill>
              </a:defRPr>
            </a:pPr>
            <a:r>
              <a:t>which data to trust, which expert to trust, which action is worth the cost.</a:t>
            </a:r>
          </a:p>
        </p:txBody>
      </p:sp>
      <p:sp>
        <p:nvSpPr>
          <p:cNvPr id="5" name="Rectangle 4"/>
          <p:cNvSpPr/>
          <p:nvPr/>
        </p:nvSpPr>
        <p:spPr>
          <a:xfrm>
            <a:off x="4114800" y="4846320"/>
            <a:ext cx="3931920" cy="3810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212080"/>
            <a:ext cx="10332720" cy="548640"/>
          </a:xfrm>
          <a:prstGeom prst="rect">
            <a:avLst/>
          </a:prstGeom>
          <a:noFill/>
        </p:spPr>
        <p:txBody>
          <a:bodyPr wrap="square">
            <a:spAutoFit/>
          </a:bodyPr>
          <a:lstStyle/>
          <a:p>
            <a:pPr algn="ctr">
              <a:defRPr sz="2000" b="0">
                <a:solidFill>
                  <a:srgbClr val="6B7280"/>
                </a:solidFill>
              </a:defRPr>
            </a:pPr>
            <a:r>
              <a:t>The value of data is state-conditioned.</a:t>
            </a:r>
          </a:p>
        </p:txBody>
      </p:sp>
      <p:sp>
        <p:nvSpPr>
          <p:cNvPr id="7" name="TextBox 6"/>
          <p:cNvSpPr txBox="1"/>
          <p:nvPr/>
        </p:nvSpPr>
        <p:spPr>
          <a:xfrm>
            <a:off x="914400" y="5943600"/>
            <a:ext cx="10332720" cy="457200"/>
          </a:xfrm>
          <a:prstGeom prst="rect">
            <a:avLst/>
          </a:prstGeom>
          <a:noFill/>
        </p:spPr>
        <p:txBody>
          <a:bodyPr wrap="square">
            <a:spAutoFit/>
          </a:bodyPr>
          <a:lstStyle/>
          <a:p>
            <a:pPr algn="ctr">
              <a:defRPr sz="1800" b="0">
                <a:solidFill>
                  <a:srgbClr val="6B7280"/>
                </a:solidFill>
              </a:defRPr>
            </a:pPr>
            <a:r>
              <a:t>Thank you | Questions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